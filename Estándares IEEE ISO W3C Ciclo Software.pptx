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cademy" panose="020B0604020202020204" charset="0"/>
      <p:regular r:id="rId12"/>
    </p:embeddedFont>
    <p:embeddedFont>
      <p:font typeface="Canva Sans" panose="020B0604020202020204" charset="0"/>
      <p:regular r:id="rId13"/>
    </p:embeddedFont>
    <p:embeddedFont>
      <p:font typeface="Nunito" panose="020F0502020204030204" pitchFamily="2" charset="0"/>
      <p:regular r:id="rId14"/>
    </p:embeddedFont>
    <p:embeddedFont>
      <p:font typeface="Poppins" panose="020B0502040204020203" pitchFamily="2" charset="0"/>
      <p:regular r:id="rId15"/>
    </p:embeddedFont>
    <p:embeddedFont>
      <p:font typeface="Poppins Bold" panose="020B0604020202020204" charset="0"/>
      <p:regular r:id="rId16"/>
    </p:embeddedFont>
    <p:embeddedFont>
      <p:font typeface="Poppins Ultra-Bold" panose="020B0604020202020204" charset="0"/>
      <p:regular r:id="rId17"/>
    </p:embeddedFont>
    <p:embeddedFont>
      <p:font typeface="Roboto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38" autoAdjust="0"/>
    <p:restoredTop sz="94622" autoAdjust="0"/>
  </p:normalViewPr>
  <p:slideViewPr>
    <p:cSldViewPr>
      <p:cViewPr varScale="1">
        <p:scale>
          <a:sx n="44" d="100"/>
          <a:sy n="44" d="100"/>
        </p:scale>
        <p:origin x="21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slide" Target="slide1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5.sv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5.svg"/><Relationship Id="rId7" Type="http://schemas.openxmlformats.org/officeDocument/2006/relationships/image" Target="../media/image1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1.svg"/><Relationship Id="rId4" Type="http://schemas.openxmlformats.org/officeDocument/2006/relationships/image" Target="../media/image16.png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sv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1.sv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slide" Target="slide1.xml"/><Relationship Id="rId7" Type="http://schemas.openxmlformats.org/officeDocument/2006/relationships/image" Target="../media/image3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5.svg"/><Relationship Id="rId7" Type="http://schemas.openxmlformats.org/officeDocument/2006/relationships/image" Target="../media/image3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280461"/>
            <a:ext cx="3882995" cy="3882995"/>
          </a:xfrm>
          <a:custGeom>
            <a:avLst/>
            <a:gdLst/>
            <a:ahLst/>
            <a:cxnLst/>
            <a:rect l="l" t="t" r="r" b="b"/>
            <a:pathLst>
              <a:path w="3882995" h="3882995">
                <a:moveTo>
                  <a:pt x="0" y="0"/>
                </a:moveTo>
                <a:lnTo>
                  <a:pt x="3882995" y="0"/>
                </a:lnTo>
                <a:lnTo>
                  <a:pt x="3882995" y="3882995"/>
                </a:lnTo>
                <a:lnTo>
                  <a:pt x="0" y="3882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8288000" cy="7687802"/>
            <a:chOff x="0" y="0"/>
            <a:chExt cx="4816593" cy="20247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024771"/>
            </a:xfrm>
            <a:custGeom>
              <a:avLst/>
              <a:gdLst/>
              <a:ahLst/>
              <a:cxnLst/>
              <a:rect l="l" t="t" r="r" b="b"/>
              <a:pathLst>
                <a:path w="4816592" h="2024771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 rotWithShape="1">
              <a:gsLst>
                <a:gs pos="0">
                  <a:srgbClr val="110823">
                    <a:alpha val="100000"/>
                  </a:srgbClr>
                </a:gs>
                <a:gs pos="33333">
                  <a:srgbClr val="110823">
                    <a:alpha val="86000"/>
                  </a:srgbClr>
                </a:gs>
                <a:gs pos="66667">
                  <a:srgbClr val="110823">
                    <a:alpha val="175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36474" y="7306614"/>
            <a:ext cx="1241852" cy="1610181"/>
          </a:xfrm>
          <a:custGeom>
            <a:avLst/>
            <a:gdLst/>
            <a:ahLst/>
            <a:cxnLst/>
            <a:rect l="l" t="t" r="r" b="b"/>
            <a:pathLst>
              <a:path w="1241852" h="1610181">
                <a:moveTo>
                  <a:pt x="0" y="0"/>
                </a:moveTo>
                <a:lnTo>
                  <a:pt x="1241852" y="0"/>
                </a:lnTo>
                <a:lnTo>
                  <a:pt x="1241852" y="1610181"/>
                </a:lnTo>
                <a:lnTo>
                  <a:pt x="0" y="1610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3083795" y="2314575"/>
            <a:ext cx="1704656" cy="2299357"/>
          </a:xfrm>
          <a:custGeom>
            <a:avLst/>
            <a:gdLst/>
            <a:ahLst/>
            <a:cxnLst/>
            <a:rect l="l" t="t" r="r" b="b"/>
            <a:pathLst>
              <a:path w="1704656" h="2299357">
                <a:moveTo>
                  <a:pt x="0" y="0"/>
                </a:moveTo>
                <a:lnTo>
                  <a:pt x="1704655" y="0"/>
                </a:lnTo>
                <a:lnTo>
                  <a:pt x="1704655" y="2299357"/>
                </a:lnTo>
                <a:lnTo>
                  <a:pt x="0" y="2299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03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15635" y="4868708"/>
            <a:ext cx="2287329" cy="2830320"/>
          </a:xfrm>
          <a:custGeom>
            <a:avLst/>
            <a:gdLst/>
            <a:ahLst/>
            <a:cxnLst/>
            <a:rect l="l" t="t" r="r" b="b"/>
            <a:pathLst>
              <a:path w="2287329" h="2830320">
                <a:moveTo>
                  <a:pt x="0" y="0"/>
                </a:moveTo>
                <a:lnTo>
                  <a:pt x="2287330" y="0"/>
                </a:lnTo>
                <a:lnTo>
                  <a:pt x="2287330" y="2830320"/>
                </a:lnTo>
                <a:lnTo>
                  <a:pt x="0" y="2830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784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889475" y="7748616"/>
            <a:ext cx="2509049" cy="572035"/>
            <a:chOff x="0" y="0"/>
            <a:chExt cx="660820" cy="1506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820" cy="150659"/>
            </a:xfrm>
            <a:custGeom>
              <a:avLst/>
              <a:gdLst/>
              <a:ahLst/>
              <a:cxnLst/>
              <a:rect l="l" t="t" r="r" b="b"/>
              <a:pathLst>
                <a:path w="660820" h="150659">
                  <a:moveTo>
                    <a:pt x="75330" y="0"/>
                  </a:moveTo>
                  <a:lnTo>
                    <a:pt x="585490" y="0"/>
                  </a:lnTo>
                  <a:cubicBezTo>
                    <a:pt x="605469" y="0"/>
                    <a:pt x="624629" y="7936"/>
                    <a:pt x="638756" y="22064"/>
                  </a:cubicBezTo>
                  <a:cubicBezTo>
                    <a:pt x="652883" y="36191"/>
                    <a:pt x="660820" y="55351"/>
                    <a:pt x="660820" y="75330"/>
                  </a:cubicBezTo>
                  <a:lnTo>
                    <a:pt x="660820" y="75330"/>
                  </a:lnTo>
                  <a:cubicBezTo>
                    <a:pt x="660820" y="116933"/>
                    <a:pt x="627093" y="150659"/>
                    <a:pt x="585490" y="150659"/>
                  </a:cubicBezTo>
                  <a:lnTo>
                    <a:pt x="75330" y="150659"/>
                  </a:lnTo>
                  <a:cubicBezTo>
                    <a:pt x="33726" y="150659"/>
                    <a:pt x="0" y="116933"/>
                    <a:pt x="0" y="75330"/>
                  </a:cubicBezTo>
                  <a:lnTo>
                    <a:pt x="0" y="75330"/>
                  </a:lnTo>
                  <a:cubicBezTo>
                    <a:pt x="0" y="33726"/>
                    <a:pt x="33726" y="0"/>
                    <a:pt x="75330" y="0"/>
                  </a:cubicBez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60820" cy="198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37076" y="2636866"/>
            <a:ext cx="12013848" cy="200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59"/>
              </a:lnSpc>
            </a:pPr>
            <a:r>
              <a:rPr lang="en-US" sz="10542" spc="-442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IEEE, ISO Y W3C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7076" y="5655955"/>
            <a:ext cx="12013848" cy="134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01"/>
              </a:lnSpc>
            </a:pPr>
            <a:r>
              <a:rPr lang="en-US" sz="5224" spc="1086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EN EL CICLO DE VIDA DEL SOFTWARE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1461" y="8926320"/>
            <a:ext cx="6825078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1"/>
              </a:lnSpc>
            </a:pPr>
            <a:r>
              <a:rPr lang="en-US" sz="1435" spc="195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INO-13624 | ESTUDIANTE: ALEXANDER | DOCENTE: LIC. HERNÁNDEZ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95650" y="2750403"/>
            <a:ext cx="6296699" cy="34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37"/>
              </a:lnSpc>
            </a:pPr>
            <a:r>
              <a:rPr lang="en-US" sz="2374" spc="32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ESTÁNDARES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716378" y="981075"/>
            <a:ext cx="2869093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Ingeniería de Software</a:t>
            </a:r>
          </a:p>
        </p:txBody>
      </p:sp>
      <p:sp>
        <p:nvSpPr>
          <p:cNvPr id="19" name="TextBox 19">
            <a:hlinkClick r:id="rId6" action="ppaction://hlinksldjump"/>
          </p:cNvPr>
          <p:cNvSpPr txBox="1"/>
          <p:nvPr/>
        </p:nvSpPr>
        <p:spPr>
          <a:xfrm>
            <a:off x="2432483" y="1124143"/>
            <a:ext cx="1033971" cy="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IEEE</a:t>
            </a:r>
          </a:p>
        </p:txBody>
      </p:sp>
      <p:sp>
        <p:nvSpPr>
          <p:cNvPr id="20" name="TextBox 20">
            <a:hlinkClick r:id="rId7" action="ppaction://hlinksldjump"/>
          </p:cNvPr>
          <p:cNvSpPr txBox="1"/>
          <p:nvPr/>
        </p:nvSpPr>
        <p:spPr>
          <a:xfrm>
            <a:off x="3673241" y="1124143"/>
            <a:ext cx="1033971" cy="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ISO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6763" y="1124143"/>
            <a:ext cx="1616264" cy="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W3C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 flipV="1">
            <a:off x="14881808" y="-298830"/>
            <a:ext cx="3882995" cy="3882995"/>
          </a:xfrm>
          <a:custGeom>
            <a:avLst/>
            <a:gdLst/>
            <a:ahLst/>
            <a:cxnLst/>
            <a:rect l="l" t="t" r="r" b="b"/>
            <a:pathLst>
              <a:path w="3882995" h="3882995">
                <a:moveTo>
                  <a:pt x="3882995" y="3882995"/>
                </a:moveTo>
                <a:lnTo>
                  <a:pt x="0" y="3882995"/>
                </a:lnTo>
                <a:lnTo>
                  <a:pt x="0" y="0"/>
                </a:lnTo>
                <a:lnTo>
                  <a:pt x="3882995" y="0"/>
                </a:lnTo>
                <a:lnTo>
                  <a:pt x="3882995" y="38829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040773" y="7748616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 flipH="1">
            <a:off x="3639995" y="7734085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3354130" y="0"/>
                </a:moveTo>
                <a:lnTo>
                  <a:pt x="0" y="0"/>
                </a:lnTo>
                <a:lnTo>
                  <a:pt x="0" y="487873"/>
                </a:lnTo>
                <a:lnTo>
                  <a:pt x="3354130" y="487873"/>
                </a:lnTo>
                <a:lnTo>
                  <a:pt x="335413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C30B4F29-1C51-B476-DE79-93A0A3F9F3D7}"/>
              </a:ext>
            </a:extLst>
          </p:cNvPr>
          <p:cNvGrpSpPr/>
          <p:nvPr/>
        </p:nvGrpSpPr>
        <p:grpSpPr>
          <a:xfrm>
            <a:off x="10433309" y="2879725"/>
            <a:ext cx="6825991" cy="6378575"/>
            <a:chOff x="10433309" y="2879725"/>
            <a:chExt cx="6825991" cy="6378575"/>
          </a:xfrm>
        </p:grpSpPr>
        <p:grpSp>
          <p:nvGrpSpPr>
            <p:cNvPr id="7" name="Group 7"/>
            <p:cNvGrpSpPr/>
            <p:nvPr/>
          </p:nvGrpSpPr>
          <p:grpSpPr>
            <a:xfrm>
              <a:off x="14383128" y="2879725"/>
              <a:ext cx="2876172" cy="6378575"/>
              <a:chOff x="0" y="0"/>
              <a:chExt cx="603660" cy="133875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03660" cy="1338755"/>
              </a:xfrm>
              <a:custGeom>
                <a:avLst/>
                <a:gdLst/>
                <a:ahLst/>
                <a:cxnLst/>
                <a:rect l="l" t="t" r="r" b="b"/>
                <a:pathLst>
                  <a:path w="603660" h="1338755">
                    <a:moveTo>
                      <a:pt x="0" y="0"/>
                    </a:moveTo>
                    <a:lnTo>
                      <a:pt x="603660" y="0"/>
                    </a:lnTo>
                    <a:lnTo>
                      <a:pt x="603660" y="1338755"/>
                    </a:lnTo>
                    <a:lnTo>
                      <a:pt x="0" y="1338755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205" r="-13205"/>
                </a:stretch>
              </a:blip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10433309" y="2879725"/>
              <a:ext cx="3715857" cy="6378575"/>
              <a:chOff x="0" y="0"/>
              <a:chExt cx="779895" cy="133875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79895" cy="1338755"/>
              </a:xfrm>
              <a:custGeom>
                <a:avLst/>
                <a:gdLst/>
                <a:ahLst/>
                <a:cxnLst/>
                <a:rect l="l" t="t" r="r" b="b"/>
                <a:pathLst>
                  <a:path w="779895" h="1338755">
                    <a:moveTo>
                      <a:pt x="0" y="0"/>
                    </a:moveTo>
                    <a:lnTo>
                      <a:pt x="779895" y="0"/>
                    </a:lnTo>
                    <a:lnTo>
                      <a:pt x="779895" y="1338755"/>
                    </a:lnTo>
                    <a:lnTo>
                      <a:pt x="0" y="1338755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1101" b="-1101"/>
                </a:stretch>
              </a:blipFill>
            </p:spPr>
          </p:sp>
        </p:grpSp>
      </p:grpSp>
      <p:sp>
        <p:nvSpPr>
          <p:cNvPr id="11" name="Freeform 11"/>
          <p:cNvSpPr/>
          <p:nvPr/>
        </p:nvSpPr>
        <p:spPr>
          <a:xfrm>
            <a:off x="1058314" y="7109293"/>
            <a:ext cx="573264" cy="639625"/>
          </a:xfrm>
          <a:custGeom>
            <a:avLst/>
            <a:gdLst/>
            <a:ahLst/>
            <a:cxnLst/>
            <a:rect l="l" t="t" r="r" b="b"/>
            <a:pathLst>
              <a:path w="573264" h="639625">
                <a:moveTo>
                  <a:pt x="0" y="0"/>
                </a:moveTo>
                <a:lnTo>
                  <a:pt x="573264" y="0"/>
                </a:lnTo>
                <a:lnTo>
                  <a:pt x="573264" y="639625"/>
                </a:lnTo>
                <a:lnTo>
                  <a:pt x="0" y="639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716378" y="981075"/>
            <a:ext cx="2869093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Tecnología Futura</a:t>
            </a:r>
          </a:p>
        </p:txBody>
      </p:sp>
      <p:sp>
        <p:nvSpPr>
          <p:cNvPr id="13" name="TextBox 13">
            <a:hlinkClick r:id="rId7" action="ppaction://hlinksldjump"/>
          </p:cNvPr>
          <p:cNvSpPr txBox="1"/>
          <p:nvPr/>
        </p:nvSpPr>
        <p:spPr>
          <a:xfrm>
            <a:off x="2432483" y="1095568"/>
            <a:ext cx="1033971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Inicio</a:t>
            </a:r>
            <a:endParaRPr lang="en-US" sz="1575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73241" y="1095568"/>
            <a:ext cx="1033971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Estándares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6763" y="1095568"/>
            <a:ext cx="1616264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Aplicaciones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666625"/>
            <a:ext cx="8654443" cy="62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11"/>
              </a:lnSpc>
              <a:spcBef>
                <a:spcPct val="0"/>
              </a:spcBef>
            </a:pPr>
            <a:r>
              <a:rPr lang="en-US" sz="4111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¿QUÉ SON LOS ESTÁNDARES?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926048"/>
            <a:ext cx="8654443" cy="182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5"/>
              </a:lnSpc>
            </a:pPr>
            <a:r>
              <a:rPr lang="en-US" sz="20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estándares de software son normas técnicas internacionales que establecen criterios, métodos y prácticas para el desarrollo, documentación y mantenimiento de sistemas informáticos. En la ingeniería moderna, IEEE, ISO y W3C son fundamentales para crear sistemas robustos, seguros y escalables.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4256122"/>
            <a:ext cx="6362851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Definición y Propósito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03253" y="7687120"/>
            <a:ext cx="7171658" cy="15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5"/>
              </a:lnSpc>
            </a:pPr>
            <a:r>
              <a:rPr lang="en-US" sz="2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Garantizan calidad y consistencia en el desarrollo</a:t>
            </a:r>
          </a:p>
          <a:p>
            <a:pPr marL="0" lvl="0" indent="0" algn="l">
              <a:lnSpc>
                <a:spcPts val="3045"/>
              </a:lnSpc>
            </a:pPr>
            <a:r>
              <a:rPr lang="en-US" sz="2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Facilitan la comunicación entre equipos técnicos</a:t>
            </a:r>
          </a:p>
          <a:p>
            <a:pPr marL="0" lvl="0" indent="0" algn="l">
              <a:lnSpc>
                <a:spcPts val="3045"/>
              </a:lnSpc>
            </a:pPr>
            <a:r>
              <a:rPr lang="en-US" sz="2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Reducen errores y costos de mantenimiento</a:t>
            </a:r>
          </a:p>
          <a:p>
            <a:pPr marL="0" lvl="0" indent="0" algn="l">
              <a:lnSpc>
                <a:spcPts val="3045"/>
              </a:lnSpc>
            </a:pPr>
            <a:r>
              <a:rPr lang="en-US" sz="2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Mejoran la interoperabilidad entre sistemas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7229" y="7017195"/>
            <a:ext cx="7460221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Beneficios Clave de los Estándares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37970" y="1090690"/>
            <a:ext cx="210428" cy="279913"/>
          </a:xfrm>
          <a:custGeom>
            <a:avLst/>
            <a:gdLst/>
            <a:ahLst/>
            <a:cxnLst/>
            <a:rect l="l" t="t" r="r" b="b"/>
            <a:pathLst>
              <a:path w="210428" h="279913">
                <a:moveTo>
                  <a:pt x="0" y="0"/>
                </a:moveTo>
                <a:lnTo>
                  <a:pt x="210428" y="0"/>
                </a:lnTo>
                <a:lnTo>
                  <a:pt x="210428" y="279913"/>
                </a:lnTo>
                <a:lnTo>
                  <a:pt x="0" y="2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611835" y="2879725"/>
            <a:ext cx="2443866" cy="3086100"/>
            <a:chOff x="0" y="0"/>
            <a:chExt cx="512926" cy="647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2926" cy="647720"/>
            </a:xfrm>
            <a:custGeom>
              <a:avLst/>
              <a:gdLst/>
              <a:ahLst/>
              <a:cxnLst/>
              <a:rect l="l" t="t" r="r" b="b"/>
              <a:pathLst>
                <a:path w="512926" h="647720">
                  <a:moveTo>
                    <a:pt x="0" y="0"/>
                  </a:moveTo>
                  <a:lnTo>
                    <a:pt x="512926" y="0"/>
                  </a:lnTo>
                  <a:lnTo>
                    <a:pt x="512926" y="647720"/>
                  </a:lnTo>
                  <a:lnTo>
                    <a:pt x="0" y="647720"/>
                  </a:lnTo>
                  <a:close/>
                </a:path>
              </a:pathLst>
            </a:custGeom>
            <a:blipFill>
              <a:blip r:embed="rId4"/>
              <a:stretch>
                <a:fillRect l="-1064" r="-106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387920" y="2879725"/>
            <a:ext cx="2443866" cy="3086100"/>
            <a:chOff x="0" y="0"/>
            <a:chExt cx="512926" cy="647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926" cy="647720"/>
            </a:xfrm>
            <a:custGeom>
              <a:avLst/>
              <a:gdLst/>
              <a:ahLst/>
              <a:cxnLst/>
              <a:rect l="l" t="t" r="r" b="b"/>
              <a:pathLst>
                <a:path w="512926" h="647720">
                  <a:moveTo>
                    <a:pt x="0" y="0"/>
                  </a:moveTo>
                  <a:lnTo>
                    <a:pt x="512926" y="0"/>
                  </a:lnTo>
                  <a:lnTo>
                    <a:pt x="512926" y="647720"/>
                  </a:lnTo>
                  <a:lnTo>
                    <a:pt x="0" y="647720"/>
                  </a:lnTo>
                  <a:close/>
                </a:path>
              </a:pathLst>
            </a:custGeom>
            <a:blipFill>
              <a:blip r:embed="rId5"/>
              <a:stretch>
                <a:fillRect l="-1064" r="-106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967442" y="6882375"/>
            <a:ext cx="808935" cy="725724"/>
          </a:xfrm>
          <a:custGeom>
            <a:avLst/>
            <a:gdLst/>
            <a:ahLst/>
            <a:cxnLst/>
            <a:rect l="l" t="t" r="r" b="b"/>
            <a:pathLst>
              <a:path w="808935" h="725724">
                <a:moveTo>
                  <a:pt x="0" y="0"/>
                </a:moveTo>
                <a:lnTo>
                  <a:pt x="808935" y="0"/>
                </a:lnTo>
                <a:lnTo>
                  <a:pt x="808935" y="725724"/>
                </a:lnTo>
                <a:lnTo>
                  <a:pt x="0" y="725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72604" y="7000279"/>
            <a:ext cx="486015" cy="518416"/>
          </a:xfrm>
          <a:custGeom>
            <a:avLst/>
            <a:gdLst/>
            <a:ahLst/>
            <a:cxnLst/>
            <a:rect l="l" t="t" r="r" b="b"/>
            <a:pathLst>
              <a:path w="486015" h="518416">
                <a:moveTo>
                  <a:pt x="0" y="0"/>
                </a:moveTo>
                <a:lnTo>
                  <a:pt x="486015" y="0"/>
                </a:lnTo>
                <a:lnTo>
                  <a:pt x="486015" y="518417"/>
                </a:lnTo>
                <a:lnTo>
                  <a:pt x="0" y="5184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716378" y="981075"/>
            <a:ext cx="2869093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Estándares IEEE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32483" y="1105093"/>
            <a:ext cx="1033971" cy="34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</a:pPr>
            <a:r>
              <a:rPr lang="en-US" sz="1998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  <a:hlinkClick r:id="rId8" action="ppaction://hlinksldjump"/>
              </a:rPr>
              <a:t>Inicio</a:t>
            </a:r>
            <a:endParaRPr lang="en-US" sz="1998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673241" y="1105093"/>
            <a:ext cx="1033971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IEEE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6763" y="1105093"/>
            <a:ext cx="1616264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ISO &amp; W3C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757013"/>
            <a:ext cx="6081441" cy="240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19"/>
              </a:lnSpc>
              <a:spcBef>
                <a:spcPct val="0"/>
              </a:spcBef>
            </a:pPr>
            <a:r>
              <a:rPr lang="en-US" sz="4519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IEEE 830</a:t>
            </a:r>
          </a:p>
          <a:p>
            <a:pPr marL="0" lvl="0" indent="0" algn="l">
              <a:lnSpc>
                <a:spcPts val="4519"/>
              </a:lnSpc>
              <a:spcBef>
                <a:spcPct val="0"/>
              </a:spcBef>
            </a:pPr>
            <a:r>
              <a:rPr lang="en-US" sz="4519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ESPECIFICACIÓN DE REQUERIMIENTOS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57400" y="7611399"/>
            <a:ext cx="6776368" cy="156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RF-01: Registrar entradas y salidas de productos en tiempo real. RF-02: Generar reportes de stock automáticos. Casos de uso definidos para cada interacción usuario-sistema.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66632" y="7611399"/>
            <a:ext cx="6592668" cy="159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8"/>
              </a:lnSpc>
            </a:pPr>
            <a:r>
              <a:rPr lang="en-US" sz="2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RNF-01: Tiempo de respuesta menor a 2 segundos. RNF-02: Disponibilidad del sistema 99.9%. Restricciones técnicas de hardware, software y red documentadas.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57400" y="6931949"/>
            <a:ext cx="6330102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Requerimientos Funcionales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66632" y="6931949"/>
            <a:ext cx="6330102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Requerimientos No Funcionales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33480" y="3492500"/>
            <a:ext cx="3925820" cy="19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IEEE 830 define la estructura del Software Requirements Specification, documento esencial que describe qué debe hacer el sistema.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33480" y="2813050"/>
            <a:ext cx="3564155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Documento SRS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29339" y="5189462"/>
            <a:ext cx="2422505" cy="990199"/>
          </a:xfrm>
          <a:custGeom>
            <a:avLst/>
            <a:gdLst/>
            <a:ahLst/>
            <a:cxnLst/>
            <a:rect l="l" t="t" r="r" b="b"/>
            <a:pathLst>
              <a:path w="2422505" h="990199">
                <a:moveTo>
                  <a:pt x="0" y="0"/>
                </a:moveTo>
                <a:lnTo>
                  <a:pt x="2422505" y="0"/>
                </a:lnTo>
                <a:lnTo>
                  <a:pt x="2422505" y="990199"/>
                </a:lnTo>
                <a:lnTo>
                  <a:pt x="0" y="9901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116233" y="2355850"/>
            <a:ext cx="4055535" cy="3172347"/>
            <a:chOff x="0" y="0"/>
            <a:chExt cx="851188" cy="6658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1188" cy="665822"/>
            </a:xfrm>
            <a:custGeom>
              <a:avLst/>
              <a:gdLst/>
              <a:ahLst/>
              <a:cxnLst/>
              <a:rect l="l" t="t" r="r" b="b"/>
              <a:pathLst>
                <a:path w="851188" h="665822">
                  <a:moveTo>
                    <a:pt x="0" y="0"/>
                  </a:moveTo>
                  <a:lnTo>
                    <a:pt x="851188" y="0"/>
                  </a:lnTo>
                  <a:lnTo>
                    <a:pt x="851188" y="665822"/>
                  </a:lnTo>
                  <a:lnTo>
                    <a:pt x="0" y="665822"/>
                  </a:lnTo>
                  <a:close/>
                </a:path>
              </a:pathLst>
            </a:custGeom>
            <a:blipFill>
              <a:blip r:embed="rId4"/>
              <a:stretch>
                <a:fillRect t="-1695" b="-169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4678858" y="6737965"/>
            <a:ext cx="2499834" cy="2468065"/>
            <a:chOff x="0" y="0"/>
            <a:chExt cx="524673" cy="518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4673" cy="518005"/>
            </a:xfrm>
            <a:custGeom>
              <a:avLst/>
              <a:gdLst/>
              <a:ahLst/>
              <a:cxnLst/>
              <a:rect l="l" t="t" r="r" b="b"/>
              <a:pathLst>
                <a:path w="524673" h="518005">
                  <a:moveTo>
                    <a:pt x="0" y="0"/>
                  </a:moveTo>
                  <a:lnTo>
                    <a:pt x="524673" y="0"/>
                  </a:lnTo>
                  <a:lnTo>
                    <a:pt x="524673" y="518005"/>
                  </a:lnTo>
                  <a:lnTo>
                    <a:pt x="0" y="518005"/>
                  </a:lnTo>
                  <a:close/>
                </a:path>
              </a:pathLst>
            </a:custGeom>
            <a:blipFill>
              <a:blip r:embed="rId5"/>
              <a:stretch>
                <a:fillRect t="-643" b="-64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451979" y="6737965"/>
            <a:ext cx="3815190" cy="2468065"/>
            <a:chOff x="0" y="0"/>
            <a:chExt cx="800744" cy="5180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0744" cy="518005"/>
            </a:xfrm>
            <a:custGeom>
              <a:avLst/>
              <a:gdLst/>
              <a:ahLst/>
              <a:cxnLst/>
              <a:rect l="l" t="t" r="r" b="b"/>
              <a:pathLst>
                <a:path w="800744" h="518005">
                  <a:moveTo>
                    <a:pt x="0" y="0"/>
                  </a:moveTo>
                  <a:lnTo>
                    <a:pt x="800744" y="0"/>
                  </a:lnTo>
                  <a:lnTo>
                    <a:pt x="800744" y="518005"/>
                  </a:lnTo>
                  <a:lnTo>
                    <a:pt x="0" y="518005"/>
                  </a:lnTo>
                  <a:close/>
                </a:path>
              </a:pathLst>
            </a:custGeom>
            <a:blipFill>
              <a:blip r:embed="rId6"/>
              <a:stretch>
                <a:fillRect t="-2074" b="-2074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059652" y="6964797"/>
            <a:ext cx="826529" cy="471873"/>
          </a:xfrm>
          <a:custGeom>
            <a:avLst/>
            <a:gdLst/>
            <a:ahLst/>
            <a:cxnLst/>
            <a:rect l="l" t="t" r="r" b="b"/>
            <a:pathLst>
              <a:path w="826529" h="471873">
                <a:moveTo>
                  <a:pt x="0" y="0"/>
                </a:moveTo>
                <a:lnTo>
                  <a:pt x="826529" y="0"/>
                </a:lnTo>
                <a:lnTo>
                  <a:pt x="826529" y="471873"/>
                </a:lnTo>
                <a:lnTo>
                  <a:pt x="0" y="471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131894" y="2456170"/>
            <a:ext cx="541197" cy="550201"/>
          </a:xfrm>
          <a:custGeom>
            <a:avLst/>
            <a:gdLst/>
            <a:ahLst/>
            <a:cxnLst/>
            <a:rect l="l" t="t" r="r" b="b"/>
            <a:pathLst>
              <a:path w="541197" h="550201">
                <a:moveTo>
                  <a:pt x="0" y="0"/>
                </a:moveTo>
                <a:lnTo>
                  <a:pt x="541198" y="0"/>
                </a:lnTo>
                <a:lnTo>
                  <a:pt x="541198" y="550201"/>
                </a:lnTo>
                <a:lnTo>
                  <a:pt x="0" y="550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716378" y="981075"/>
            <a:ext cx="2869093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IEEE 1016</a:t>
            </a:r>
          </a:p>
        </p:txBody>
      </p:sp>
      <p:sp>
        <p:nvSpPr>
          <p:cNvPr id="16" name="TextBox 16">
            <a:hlinkClick r:id="rId9" action="ppaction://hlinksldjump"/>
          </p:cNvPr>
          <p:cNvSpPr txBox="1"/>
          <p:nvPr/>
        </p:nvSpPr>
        <p:spPr>
          <a:xfrm>
            <a:off x="2432483" y="1105093"/>
            <a:ext cx="1033971" cy="34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</a:pPr>
            <a:r>
              <a:rPr lang="en-US" sz="1998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  <a:hlinkClick r:id="rId9" action="ppaction://hlinksldjump"/>
              </a:rPr>
              <a:t>Inicio</a:t>
            </a:r>
            <a:endParaRPr lang="en-US" sz="1998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673241" y="1105093"/>
            <a:ext cx="1033971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Diseño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6763" y="1105093"/>
            <a:ext cx="1616264" cy="3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Arquitectura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71842" y="3548140"/>
            <a:ext cx="5406849" cy="312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 de arquitectura web moderna:</a:t>
            </a:r>
          </a:p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Frontend: React/Angular (Vista)</a:t>
            </a:r>
          </a:p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Backend: Node.js/Python (Controlador)</a:t>
            </a:r>
          </a:p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Base de datos: PostgreSQL/MongoDB</a:t>
            </a:r>
          </a:p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Servicios: autenticación JWT, APIs RESTful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25748" y="7570360"/>
            <a:ext cx="7688081" cy="159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8"/>
              </a:lnSpc>
            </a:pPr>
            <a:r>
              <a:rPr lang="en-US" sz="2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IEEE 1016 establece las prácticas para documentar la arquitectura y diseño de software, incluyendo vistas estructurales, de comportamiento y de despliegue del sistema.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21315" y="2289175"/>
            <a:ext cx="3564155" cy="87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Arquitectura MVC y Diagramas UML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25748" y="6890910"/>
            <a:ext cx="7241870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Elementos Clave del Diseño de Software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0509" y="2678113"/>
            <a:ext cx="5504327" cy="2235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93"/>
              </a:lnSpc>
              <a:spcBef>
                <a:spcPct val="0"/>
              </a:spcBef>
            </a:pPr>
            <a:r>
              <a:rPr lang="en-US" sz="5493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DESCRIPCIÓN DEL DISEÑO DE SOFTWARE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28700" y="5528197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57852" y="1051089"/>
            <a:ext cx="368225" cy="365934"/>
          </a:xfrm>
          <a:custGeom>
            <a:avLst/>
            <a:gdLst/>
            <a:ahLst/>
            <a:cxnLst/>
            <a:rect l="l" t="t" r="r" b="b"/>
            <a:pathLst>
              <a:path w="368225" h="365934">
                <a:moveTo>
                  <a:pt x="0" y="0"/>
                </a:moveTo>
                <a:lnTo>
                  <a:pt x="368225" y="0"/>
                </a:lnTo>
                <a:lnTo>
                  <a:pt x="368225" y="365934"/>
                </a:lnTo>
                <a:lnTo>
                  <a:pt x="0" y="3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499227" y="3559175"/>
            <a:ext cx="2443866" cy="3086100"/>
            <a:chOff x="0" y="0"/>
            <a:chExt cx="512926" cy="647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2926" cy="647720"/>
            </a:xfrm>
            <a:custGeom>
              <a:avLst/>
              <a:gdLst/>
              <a:ahLst/>
              <a:cxnLst/>
              <a:rect l="l" t="t" r="r" b="b"/>
              <a:pathLst>
                <a:path w="512926" h="647720">
                  <a:moveTo>
                    <a:pt x="0" y="0"/>
                  </a:moveTo>
                  <a:lnTo>
                    <a:pt x="512926" y="0"/>
                  </a:lnTo>
                  <a:lnTo>
                    <a:pt x="512926" y="647720"/>
                  </a:lnTo>
                  <a:lnTo>
                    <a:pt x="0" y="647720"/>
                  </a:lnTo>
                  <a:close/>
                </a:path>
              </a:pathLst>
            </a:custGeom>
            <a:blipFill>
              <a:blip r:embed="rId4"/>
              <a:stretch>
                <a:fillRect l="-1064" r="-106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22588" y="7316124"/>
            <a:ext cx="2443866" cy="1942176"/>
            <a:chOff x="0" y="0"/>
            <a:chExt cx="512926" cy="40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926" cy="407630"/>
            </a:xfrm>
            <a:custGeom>
              <a:avLst/>
              <a:gdLst/>
              <a:ahLst/>
              <a:cxnLst/>
              <a:rect l="l" t="t" r="r" b="b"/>
              <a:pathLst>
                <a:path w="512926" h="407630">
                  <a:moveTo>
                    <a:pt x="0" y="0"/>
                  </a:moveTo>
                  <a:lnTo>
                    <a:pt x="512926" y="0"/>
                  </a:lnTo>
                  <a:lnTo>
                    <a:pt x="512926" y="407630"/>
                  </a:lnTo>
                  <a:lnTo>
                    <a:pt x="0" y="407630"/>
                  </a:lnTo>
                  <a:close/>
                </a:path>
              </a:pathLst>
            </a:custGeom>
            <a:blipFill>
              <a:blip r:embed="rId5"/>
              <a:stretch>
                <a:fillRect t="-883" b="-88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907842" y="7316124"/>
            <a:ext cx="2443866" cy="1942176"/>
            <a:chOff x="0" y="0"/>
            <a:chExt cx="512926" cy="4076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926" cy="407630"/>
            </a:xfrm>
            <a:custGeom>
              <a:avLst/>
              <a:gdLst/>
              <a:ahLst/>
              <a:cxnLst/>
              <a:rect l="l" t="t" r="r" b="b"/>
              <a:pathLst>
                <a:path w="512926" h="407630">
                  <a:moveTo>
                    <a:pt x="0" y="0"/>
                  </a:moveTo>
                  <a:lnTo>
                    <a:pt x="512926" y="0"/>
                  </a:lnTo>
                  <a:lnTo>
                    <a:pt x="512926" y="407630"/>
                  </a:lnTo>
                  <a:lnTo>
                    <a:pt x="0" y="407630"/>
                  </a:lnTo>
                  <a:close/>
                </a:path>
              </a:pathLst>
            </a:custGeom>
            <a:blipFill>
              <a:blip r:embed="rId6"/>
              <a:stretch>
                <a:fillRect t="-883" b="-88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789858" y="7316124"/>
            <a:ext cx="2443866" cy="1942176"/>
            <a:chOff x="0" y="0"/>
            <a:chExt cx="512926" cy="4076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926" cy="407630"/>
            </a:xfrm>
            <a:custGeom>
              <a:avLst/>
              <a:gdLst/>
              <a:ahLst/>
              <a:cxnLst/>
              <a:rect l="l" t="t" r="r" b="b"/>
              <a:pathLst>
                <a:path w="512926" h="407630">
                  <a:moveTo>
                    <a:pt x="0" y="0"/>
                  </a:moveTo>
                  <a:lnTo>
                    <a:pt x="512926" y="0"/>
                  </a:lnTo>
                  <a:lnTo>
                    <a:pt x="512926" y="407630"/>
                  </a:lnTo>
                  <a:lnTo>
                    <a:pt x="0" y="407630"/>
                  </a:lnTo>
                  <a:close/>
                </a:path>
              </a:pathLst>
            </a:custGeom>
            <a:blipFill>
              <a:blip r:embed="rId7"/>
              <a:stretch>
                <a:fillRect t="-883" b="-88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671874" y="7316124"/>
            <a:ext cx="3271219" cy="1942176"/>
            <a:chOff x="0" y="0"/>
            <a:chExt cx="686573" cy="4076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6573" cy="407630"/>
            </a:xfrm>
            <a:custGeom>
              <a:avLst/>
              <a:gdLst/>
              <a:ahLst/>
              <a:cxnLst/>
              <a:rect l="l" t="t" r="r" b="b"/>
              <a:pathLst>
                <a:path w="686573" h="407630">
                  <a:moveTo>
                    <a:pt x="0" y="0"/>
                  </a:moveTo>
                  <a:lnTo>
                    <a:pt x="686573" y="0"/>
                  </a:lnTo>
                  <a:lnTo>
                    <a:pt x="686573" y="407630"/>
                  </a:lnTo>
                  <a:lnTo>
                    <a:pt x="0" y="407630"/>
                  </a:lnTo>
                  <a:close/>
                </a:path>
              </a:pathLst>
            </a:custGeom>
            <a:blipFill>
              <a:blip r:embed="rId8"/>
              <a:stretch>
                <a:fillRect l="-2080" r="-2080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3673201" y="3368079"/>
            <a:ext cx="816131" cy="928761"/>
          </a:xfrm>
          <a:custGeom>
            <a:avLst/>
            <a:gdLst/>
            <a:ahLst/>
            <a:cxnLst/>
            <a:rect l="l" t="t" r="r" b="b"/>
            <a:pathLst>
              <a:path w="816131" h="928761">
                <a:moveTo>
                  <a:pt x="0" y="0"/>
                </a:moveTo>
                <a:lnTo>
                  <a:pt x="816131" y="0"/>
                </a:lnTo>
                <a:lnTo>
                  <a:pt x="816131" y="928760"/>
                </a:lnTo>
                <a:lnTo>
                  <a:pt x="0" y="9287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716378" y="981075"/>
            <a:ext cx="2869093" cy="36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29"/>
              </a:lnSpc>
            </a:pPr>
            <a:r>
              <a:rPr lang="en-US" sz="209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Estándares de Software</a:t>
            </a:r>
          </a:p>
        </p:txBody>
      </p:sp>
      <p:sp>
        <p:nvSpPr>
          <p:cNvPr id="19" name="TextBox 19">
            <a:hlinkClick r:id="rId10" action="ppaction://hlinksldjump"/>
          </p:cNvPr>
          <p:cNvSpPr txBox="1"/>
          <p:nvPr/>
        </p:nvSpPr>
        <p:spPr>
          <a:xfrm>
            <a:off x="2438400" y="1095568"/>
            <a:ext cx="1033971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Inicio</a:t>
            </a:r>
            <a:endParaRPr lang="en-US" sz="1575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673241" y="1095568"/>
            <a:ext cx="1033971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Estándares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6763" y="1095568"/>
            <a:ext cx="1616264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Accesibilidad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42650" y="1968500"/>
            <a:ext cx="13602700" cy="9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5"/>
              </a:lnSpc>
              <a:spcBef>
                <a:spcPct val="0"/>
              </a:spcBef>
            </a:pPr>
            <a:r>
              <a:rPr lang="en-US" sz="5995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W3C WCAG 2.1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171950"/>
            <a:ext cx="3643533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5"/>
              </a:lnSpc>
            </a:pPr>
            <a:r>
              <a:rPr lang="en-US" sz="18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WCAG 2.1 del W3C establecen criterios para hacer el contenido web accesible a personas con discapacidades visuales, auditivas, motoras y cognitivas.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75149" y="4171950"/>
            <a:ext cx="5124078" cy="300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5"/>
              </a:lnSpc>
            </a:pP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Cuatro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Principios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Fundamentales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0" lvl="0" indent="0" algn="l">
              <a:lnSpc>
                <a:spcPts val="2625"/>
              </a:lnSpc>
            </a:pP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Perceptible: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presentable a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usuarios</a:t>
            </a:r>
            <a:endParaRPr lang="en-US" sz="18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25"/>
              </a:lnSpc>
            </a:pP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Operable: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navegación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mediante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teclado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suficiente</a:t>
            </a:r>
            <a:endParaRPr lang="en-US" sz="18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25"/>
              </a:lnSpc>
            </a:pP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Comprensible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texto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legible,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funcionamiento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predecible</a:t>
            </a:r>
            <a:endParaRPr lang="en-US" sz="18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25"/>
              </a:lnSpc>
            </a:pP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Robusto: compatible con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tecnologías</a:t>
            </a:r>
            <a:r>
              <a:rPr lang="en-US" sz="18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asistivas</a:t>
            </a:r>
            <a:endParaRPr lang="en-US" sz="18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3492500"/>
            <a:ext cx="3310974" cy="38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9"/>
              </a:lnSpc>
            </a:pPr>
            <a:r>
              <a:rPr lang="en-US" sz="20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Pautas de Accesibilidad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50659" y="4835525"/>
            <a:ext cx="3672647" cy="309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5"/>
              </a:lnSpc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Ejemplos Prácticos:</a:t>
            </a:r>
          </a:p>
          <a:p>
            <a:pPr marL="0" lvl="0" indent="0" algn="l">
              <a:lnSpc>
                <a:spcPts val="2765"/>
              </a:lnSpc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Contraste de color mínimo 4.5:1 para texto</a:t>
            </a:r>
          </a:p>
          <a:p>
            <a:pPr marL="0" lvl="0" indent="0" algn="l">
              <a:lnSpc>
                <a:spcPts val="2765"/>
              </a:lnSpc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Etiquetas alt en imágenes</a:t>
            </a:r>
          </a:p>
          <a:p>
            <a:pPr marL="0" lvl="0" indent="0" algn="l">
              <a:lnSpc>
                <a:spcPts val="2765"/>
              </a:lnSpc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Navegación por teclado completa</a:t>
            </a:r>
          </a:p>
          <a:p>
            <a:pPr marL="0" lvl="0" indent="0" algn="l">
              <a:lnSpc>
                <a:spcPts val="2765"/>
              </a:lnSpc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Subtítulos en videos</a:t>
            </a:r>
          </a:p>
          <a:p>
            <a:pPr marL="0" lvl="0" indent="0" algn="l">
              <a:lnSpc>
                <a:spcPts val="2765"/>
              </a:lnSpc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Diseño responsive para móviles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868401" y="3460750"/>
            <a:ext cx="1954904" cy="75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9"/>
              </a:lnSpc>
            </a:pPr>
            <a:r>
              <a:rPr lang="en-US" sz="20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Niveles de Conformidad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75149" y="3492500"/>
            <a:ext cx="3310974" cy="38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9"/>
              </a:lnSpc>
            </a:pPr>
            <a:r>
              <a:rPr lang="en-US" sz="20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Niveles: A, AA, AAA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473859" y="8770427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16378" y="981075"/>
            <a:ext cx="2869093" cy="36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29"/>
              </a:lnSpc>
            </a:pPr>
            <a:r>
              <a:rPr lang="en-US" sz="209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Estándares de Software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32483" y="1105093"/>
            <a:ext cx="1033971" cy="30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1757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  <a:hlinkClick r:id="rId3" action="ppaction://hlinksldjump"/>
              </a:rPr>
              <a:t>Inicio</a:t>
            </a:r>
            <a:endParaRPr lang="en-US" sz="1757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73241" y="1105093"/>
            <a:ext cx="1033971" cy="28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17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Normas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16763" y="1105093"/>
            <a:ext cx="1616264" cy="28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17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ISO/IEC 25010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987926" y="2176223"/>
            <a:ext cx="6271374" cy="241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5"/>
              </a:lnSpc>
              <a:spcBef>
                <a:spcPct val="0"/>
              </a:spcBef>
            </a:pPr>
            <a:r>
              <a:rPr lang="en-US" sz="5995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ISO/IEC 25010 MODELO DE CALIDAD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7926" y="7164558"/>
            <a:ext cx="6271374" cy="145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0"/>
              </a:lnSpc>
              <a:spcBef>
                <a:spcPct val="0"/>
              </a:spcBef>
            </a:pPr>
            <a:r>
              <a:rPr lang="en-US" sz="20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Métricas clave de calidad: Disponibilidad 99.9% uptime, Tiempo de respuesta menor a 200ms, Tasa de errores inferior al 0.1%. Estas métricas garantizan software robusto y confiable.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87926" y="6485108"/>
            <a:ext cx="4825789" cy="38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9"/>
              </a:lnSpc>
              <a:spcBef>
                <a:spcPct val="0"/>
              </a:spcBef>
            </a:pPr>
            <a:r>
              <a:rPr lang="en-US" sz="20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 Características Fundamentales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084235" y="6263532"/>
            <a:ext cx="5090198" cy="2957752"/>
            <a:chOff x="0" y="0"/>
            <a:chExt cx="1340628" cy="7789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0628" cy="778996"/>
            </a:xfrm>
            <a:custGeom>
              <a:avLst/>
              <a:gdLst/>
              <a:ahLst/>
              <a:cxnLst/>
              <a:rect l="l" t="t" r="r" b="b"/>
              <a:pathLst>
                <a:path w="1340628" h="778996">
                  <a:moveTo>
                    <a:pt x="0" y="0"/>
                  </a:moveTo>
                  <a:lnTo>
                    <a:pt x="1340628" y="0"/>
                  </a:lnTo>
                  <a:lnTo>
                    <a:pt x="1340628" y="778996"/>
                  </a:lnTo>
                  <a:lnTo>
                    <a:pt x="0" y="778996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340628" cy="807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454014" y="7507458"/>
            <a:ext cx="4602847" cy="153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0"/>
              </a:lnSpc>
              <a:spcBef>
                <a:spcPct val="0"/>
              </a:spcBef>
            </a:pPr>
            <a:r>
              <a:rPr lang="en-US" sz="21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Funcionalidad • Eficiencia • Compatibilidad • Usabilidad • Fiabilidad • Seguridad • Mantenibilidad • Portabilidad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54014" y="6837533"/>
            <a:ext cx="4602847" cy="38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9"/>
              </a:lnSpc>
              <a:spcBef>
                <a:spcPct val="0"/>
              </a:spcBef>
            </a:pPr>
            <a:r>
              <a:rPr lang="en-US" sz="209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Evaluación de Productos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2185748"/>
            <a:ext cx="4055535" cy="3678292"/>
            <a:chOff x="0" y="0"/>
            <a:chExt cx="851188" cy="7720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1188" cy="772011"/>
            </a:xfrm>
            <a:custGeom>
              <a:avLst/>
              <a:gdLst/>
              <a:ahLst/>
              <a:cxnLst/>
              <a:rect l="l" t="t" r="r" b="b"/>
              <a:pathLst>
                <a:path w="851188" h="772011">
                  <a:moveTo>
                    <a:pt x="0" y="0"/>
                  </a:moveTo>
                  <a:lnTo>
                    <a:pt x="851188" y="0"/>
                  </a:lnTo>
                  <a:lnTo>
                    <a:pt x="851188" y="772011"/>
                  </a:lnTo>
                  <a:lnTo>
                    <a:pt x="0" y="772011"/>
                  </a:lnTo>
                  <a:close/>
                </a:path>
              </a:pathLst>
            </a:custGeom>
            <a:blipFill>
              <a:blip r:embed="rId5"/>
              <a:stretch>
                <a:fillRect t="-5127" b="-5127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028700" y="6263532"/>
            <a:ext cx="3678513" cy="2957752"/>
            <a:chOff x="0" y="0"/>
            <a:chExt cx="772057" cy="62078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72057" cy="620782"/>
            </a:xfrm>
            <a:custGeom>
              <a:avLst/>
              <a:gdLst/>
              <a:ahLst/>
              <a:cxnLst/>
              <a:rect l="l" t="t" r="r" b="b"/>
              <a:pathLst>
                <a:path w="772057" h="620782">
                  <a:moveTo>
                    <a:pt x="0" y="0"/>
                  </a:moveTo>
                  <a:lnTo>
                    <a:pt x="772057" y="0"/>
                  </a:lnTo>
                  <a:lnTo>
                    <a:pt x="772057" y="620782"/>
                  </a:lnTo>
                  <a:lnTo>
                    <a:pt x="0" y="620782"/>
                  </a:lnTo>
                  <a:close/>
                </a:path>
              </a:pathLst>
            </a:custGeom>
            <a:blipFill>
              <a:blip r:embed="rId6"/>
              <a:stretch>
                <a:fillRect t="-291" b="-291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5454014" y="2185748"/>
            <a:ext cx="4720419" cy="3678292"/>
            <a:chOff x="0" y="0"/>
            <a:chExt cx="990736" cy="7720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0736" cy="772011"/>
            </a:xfrm>
            <a:custGeom>
              <a:avLst/>
              <a:gdLst/>
              <a:ahLst/>
              <a:cxnLst/>
              <a:rect l="l" t="t" r="r" b="b"/>
              <a:pathLst>
                <a:path w="990736" h="772011">
                  <a:moveTo>
                    <a:pt x="0" y="0"/>
                  </a:moveTo>
                  <a:lnTo>
                    <a:pt x="990736" y="0"/>
                  </a:lnTo>
                  <a:lnTo>
                    <a:pt x="990736" y="772011"/>
                  </a:lnTo>
                  <a:lnTo>
                    <a:pt x="0" y="772011"/>
                  </a:lnTo>
                  <a:close/>
                </a:path>
              </a:pathLst>
            </a:custGeom>
            <a:blipFill>
              <a:blip r:embed="rId7"/>
              <a:stretch>
                <a:fillRect t="-1894" b="-1894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0987926" y="5344029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978155" y="2552191"/>
            <a:ext cx="2992849" cy="6706109"/>
            <a:chOff x="0" y="0"/>
            <a:chExt cx="628148" cy="14074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8148" cy="1407498"/>
            </a:xfrm>
            <a:custGeom>
              <a:avLst/>
              <a:gdLst/>
              <a:ahLst/>
              <a:cxnLst/>
              <a:rect l="l" t="t" r="r" b="b"/>
              <a:pathLst>
                <a:path w="628148" h="1407498">
                  <a:moveTo>
                    <a:pt x="0" y="0"/>
                  </a:moveTo>
                  <a:lnTo>
                    <a:pt x="628148" y="0"/>
                  </a:lnTo>
                  <a:lnTo>
                    <a:pt x="628148" y="1407498"/>
                  </a:lnTo>
                  <a:lnTo>
                    <a:pt x="0" y="1407498"/>
                  </a:lnTo>
                  <a:close/>
                </a:path>
              </a:pathLst>
            </a:custGeom>
            <a:blipFill>
              <a:blip r:embed="rId4"/>
              <a:stretch>
                <a:fillRect l="-13860" r="-1386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4137618" y="2552191"/>
            <a:ext cx="2443866" cy="3429628"/>
            <a:chOff x="0" y="0"/>
            <a:chExt cx="512926" cy="7198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926" cy="719821"/>
            </a:xfrm>
            <a:custGeom>
              <a:avLst/>
              <a:gdLst/>
              <a:ahLst/>
              <a:cxnLst/>
              <a:rect l="l" t="t" r="r" b="b"/>
              <a:pathLst>
                <a:path w="512926" h="719821">
                  <a:moveTo>
                    <a:pt x="0" y="0"/>
                  </a:moveTo>
                  <a:lnTo>
                    <a:pt x="512926" y="0"/>
                  </a:lnTo>
                  <a:lnTo>
                    <a:pt x="512926" y="719821"/>
                  </a:lnTo>
                  <a:lnTo>
                    <a:pt x="0" y="719821"/>
                  </a:lnTo>
                  <a:close/>
                </a:path>
              </a:pathLst>
            </a:custGeom>
            <a:blipFill>
              <a:blip r:embed="rId5"/>
              <a:stretch>
                <a:fillRect l="-2362" r="-236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22588" y="2552191"/>
            <a:ext cx="2443866" cy="3429628"/>
            <a:chOff x="0" y="0"/>
            <a:chExt cx="512926" cy="7198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926" cy="719821"/>
            </a:xfrm>
            <a:custGeom>
              <a:avLst/>
              <a:gdLst/>
              <a:ahLst/>
              <a:cxnLst/>
              <a:rect l="l" t="t" r="r" b="b"/>
              <a:pathLst>
                <a:path w="512926" h="719821">
                  <a:moveTo>
                    <a:pt x="0" y="0"/>
                  </a:moveTo>
                  <a:lnTo>
                    <a:pt x="512926" y="0"/>
                  </a:lnTo>
                  <a:lnTo>
                    <a:pt x="512926" y="719821"/>
                  </a:lnTo>
                  <a:lnTo>
                    <a:pt x="0" y="719821"/>
                  </a:lnTo>
                  <a:close/>
                </a:path>
              </a:pathLst>
            </a:custGeom>
            <a:blipFill>
              <a:blip r:embed="rId6"/>
              <a:stretch>
                <a:fillRect l="-2362" r="-2362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0644864" y="6729972"/>
            <a:ext cx="531199" cy="676296"/>
          </a:xfrm>
          <a:custGeom>
            <a:avLst/>
            <a:gdLst/>
            <a:ahLst/>
            <a:cxnLst/>
            <a:rect l="l" t="t" r="r" b="b"/>
            <a:pathLst>
              <a:path w="531199" h="676296">
                <a:moveTo>
                  <a:pt x="0" y="0"/>
                </a:moveTo>
                <a:lnTo>
                  <a:pt x="531200" y="0"/>
                </a:lnTo>
                <a:lnTo>
                  <a:pt x="531200" y="676295"/>
                </a:lnTo>
                <a:lnTo>
                  <a:pt x="0" y="6762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565710" y="2260224"/>
            <a:ext cx="6708260" cy="305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13"/>
              </a:lnSpc>
            </a:pPr>
            <a:r>
              <a:rPr lang="en-US" sz="5713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INTEGRACIÓN DE ESTÁNDARES EN EL CICLO DE VIDA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341030" y="4899563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0" y="0"/>
                </a:moveTo>
                <a:lnTo>
                  <a:pt x="3354130" y="0"/>
                </a:lnTo>
                <a:lnTo>
                  <a:pt x="3354130" y="487874"/>
                </a:lnTo>
                <a:lnTo>
                  <a:pt x="0" y="487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565710" y="7562447"/>
            <a:ext cx="6708260" cy="181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4"/>
              </a:lnSpc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Trazabilidad completa del proyecto</a:t>
            </a:r>
          </a:p>
          <a:p>
            <a:pPr marL="0" lvl="0" indent="0" algn="l">
              <a:lnSpc>
                <a:spcPts val="2874"/>
              </a:lnSpc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Calidad consistente en todo el ciclo</a:t>
            </a:r>
          </a:p>
          <a:p>
            <a:pPr marL="0" lvl="0" indent="0" algn="l">
              <a:lnSpc>
                <a:spcPts val="2874"/>
              </a:lnSpc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Reducción significativa de deuda técnica</a:t>
            </a:r>
          </a:p>
          <a:p>
            <a:pPr marL="0" lvl="0" indent="0" algn="l">
              <a:lnSpc>
                <a:spcPts val="2874"/>
              </a:lnSpc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Documentación actualizada y refactorización continua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489825"/>
            <a:ext cx="5552784" cy="217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268" lvl="1" indent="-221634" algn="l">
              <a:lnSpc>
                <a:spcPts val="2874"/>
              </a:lnSpc>
              <a:buAutoNum type="arabicPeriod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de Requerimientos → IEEE 830</a:t>
            </a:r>
          </a:p>
          <a:p>
            <a:pPr marL="443268" lvl="1" indent="-221634" algn="l">
              <a:lnSpc>
                <a:spcPts val="2874"/>
              </a:lnSpc>
              <a:buAutoNum type="arabicPeriod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de Arquitectura → IEEE 1016</a:t>
            </a:r>
          </a:p>
          <a:p>
            <a:pPr marL="443268" lvl="1" indent="-221634" algn="l">
              <a:lnSpc>
                <a:spcPts val="2874"/>
              </a:lnSpc>
              <a:buAutoNum type="arabicPeriod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Desarrollo → ISO/IEC 25010</a:t>
            </a:r>
          </a:p>
          <a:p>
            <a:pPr marL="443268" lvl="1" indent="-221634" algn="l">
              <a:lnSpc>
                <a:spcPts val="2874"/>
              </a:lnSpc>
              <a:buAutoNum type="arabicPeriod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Pruebas de Calidad → ISO/IEC 25010</a:t>
            </a:r>
          </a:p>
          <a:p>
            <a:pPr marL="443268" lvl="1" indent="-221634" algn="l">
              <a:lnSpc>
                <a:spcPts val="2874"/>
              </a:lnSpc>
              <a:buAutoNum type="arabicPeriod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Implementación → W3C WCAG 2.1</a:t>
            </a:r>
          </a:p>
          <a:p>
            <a:pPr marL="443268" lvl="1" indent="-221634" algn="l">
              <a:lnSpc>
                <a:spcPts val="2874"/>
              </a:lnSpc>
              <a:buAutoNum type="arabicPeriod"/>
            </a:pPr>
            <a:r>
              <a:rPr lang="en-US" sz="20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Mantenimiento → IEEE 1016, ISO 25010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53940" y="6814119"/>
            <a:ext cx="3564155" cy="40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2"/>
              </a:lnSpc>
            </a:pPr>
            <a:r>
              <a:rPr lang="en-US" sz="222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Beneficios Clave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814119"/>
            <a:ext cx="5504327" cy="40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2"/>
              </a:lnSpc>
            </a:pPr>
            <a:r>
              <a:rPr lang="en-US" sz="222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Fases del Desarrollo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16378" y="971550"/>
            <a:ext cx="2869093" cy="78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12"/>
              </a:lnSpc>
            </a:pPr>
            <a:r>
              <a:rPr lang="en-US" sz="222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Ciclo de Vida del Software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32483" y="1095568"/>
            <a:ext cx="1033971" cy="2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4"/>
              </a:lnSpc>
            </a:pPr>
            <a:r>
              <a:rPr lang="en-US" sz="165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IEEE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73241" y="1095568"/>
            <a:ext cx="1033971" cy="2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4"/>
              </a:lnSpc>
            </a:pPr>
            <a:r>
              <a:rPr lang="en-US" sz="165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ISO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16763" y="1095568"/>
            <a:ext cx="1616264" cy="2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4"/>
              </a:lnSpc>
            </a:pPr>
            <a:r>
              <a:rPr lang="en-US" sz="165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W3C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91356" y="2720542"/>
            <a:ext cx="3715857" cy="3175901"/>
            <a:chOff x="0" y="0"/>
            <a:chExt cx="779895" cy="6665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9895" cy="666568"/>
            </a:xfrm>
            <a:custGeom>
              <a:avLst/>
              <a:gdLst/>
              <a:ahLst/>
              <a:cxnLst/>
              <a:rect l="l" t="t" r="r" b="b"/>
              <a:pathLst>
                <a:path w="779895" h="666568">
                  <a:moveTo>
                    <a:pt x="0" y="0"/>
                  </a:moveTo>
                  <a:lnTo>
                    <a:pt x="779895" y="0"/>
                  </a:lnTo>
                  <a:lnTo>
                    <a:pt x="779895" y="666568"/>
                  </a:lnTo>
                  <a:lnTo>
                    <a:pt x="0" y="666568"/>
                  </a:lnTo>
                  <a:close/>
                </a:path>
              </a:pathLst>
            </a:custGeom>
            <a:blipFill>
              <a:blip r:embed="rId4"/>
              <a:stretch>
                <a:fillRect l="-2840" r="-284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823152" y="6564390"/>
            <a:ext cx="8436148" cy="2627702"/>
            <a:chOff x="0" y="0"/>
            <a:chExt cx="1770604" cy="5515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70604" cy="551510"/>
            </a:xfrm>
            <a:custGeom>
              <a:avLst/>
              <a:gdLst/>
              <a:ahLst/>
              <a:cxnLst/>
              <a:rect l="l" t="t" r="r" b="b"/>
              <a:pathLst>
                <a:path w="1770604" h="551510">
                  <a:moveTo>
                    <a:pt x="0" y="0"/>
                  </a:moveTo>
                  <a:lnTo>
                    <a:pt x="1770604" y="0"/>
                  </a:lnTo>
                  <a:lnTo>
                    <a:pt x="1770604" y="551510"/>
                  </a:lnTo>
                  <a:lnTo>
                    <a:pt x="0" y="551510"/>
                  </a:lnTo>
                  <a:close/>
                </a:path>
              </a:pathLst>
            </a:custGeom>
            <a:blipFill>
              <a:blip r:embed="rId5"/>
              <a:stretch>
                <a:fillRect t="-41498" b="-414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91356" y="6564390"/>
            <a:ext cx="7831796" cy="2627702"/>
            <a:chOff x="0" y="0"/>
            <a:chExt cx="2062695" cy="6920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62695" cy="692070"/>
            </a:xfrm>
            <a:custGeom>
              <a:avLst/>
              <a:gdLst/>
              <a:ahLst/>
              <a:cxnLst/>
              <a:rect l="l" t="t" r="r" b="b"/>
              <a:pathLst>
                <a:path w="2062695" h="692070">
                  <a:moveTo>
                    <a:pt x="0" y="0"/>
                  </a:moveTo>
                  <a:lnTo>
                    <a:pt x="2062695" y="0"/>
                  </a:lnTo>
                  <a:lnTo>
                    <a:pt x="2062695" y="692070"/>
                  </a:lnTo>
                  <a:lnTo>
                    <a:pt x="0" y="692070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062695" cy="72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378" y="981075"/>
            <a:ext cx="2869093" cy="86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Estándares IEEE, ISO y W3C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32483" y="1095568"/>
            <a:ext cx="1033971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Inicio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73241" y="1095568"/>
            <a:ext cx="1033971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Estándares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6763" y="1095568"/>
            <a:ext cx="1616264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Aplicación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88250" y="2695575"/>
            <a:ext cx="6271050" cy="241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5"/>
              </a:lnSpc>
              <a:spcBef>
                <a:spcPct val="0"/>
              </a:spcBef>
            </a:pPr>
            <a:r>
              <a:rPr lang="en-US" sz="5995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APLICACIÓN EN EL SALVADOR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99480" y="3323792"/>
            <a:ext cx="4538832" cy="290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5"/>
              </a:lnSpc>
            </a:pPr>
            <a:r>
              <a:rPr lang="en-US" sz="20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adopción de estándares internacionales fortalece la competitividad de la industria tecnológica nacional y mejora la calidad de sistemas gubernamentales y empresariales en múltiples sectores clave.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99480" y="2653867"/>
            <a:ext cx="5455099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Salvadoreño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7439" y="7453607"/>
            <a:ext cx="6319547" cy="146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Desafíos actuales: capacitación profesional en estándares internacionales, inversión en calidad y certificaciones, difusión y cultura de mejores prácticas en el desarrollo de software.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47439" y="6906093"/>
            <a:ext cx="6319547" cy="4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Áreas de Impacto Nacional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988250" y="5408569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0" y="0"/>
                </a:moveTo>
                <a:lnTo>
                  <a:pt x="3354130" y="0"/>
                </a:lnTo>
                <a:lnTo>
                  <a:pt x="3354130" y="487874"/>
                </a:lnTo>
                <a:lnTo>
                  <a:pt x="0" y="487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6738938"/>
            <a:ext cx="18288000" cy="3611448"/>
            <a:chOff x="0" y="0"/>
            <a:chExt cx="3838341" cy="7579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38341" cy="757981"/>
            </a:xfrm>
            <a:custGeom>
              <a:avLst/>
              <a:gdLst/>
              <a:ahLst/>
              <a:cxnLst/>
              <a:rect l="l" t="t" r="r" b="b"/>
              <a:pathLst>
                <a:path w="3838341" h="757981">
                  <a:moveTo>
                    <a:pt x="0" y="0"/>
                  </a:moveTo>
                  <a:lnTo>
                    <a:pt x="3838341" y="0"/>
                  </a:lnTo>
                  <a:lnTo>
                    <a:pt x="3838341" y="757981"/>
                  </a:lnTo>
                  <a:lnTo>
                    <a:pt x="0" y="757981"/>
                  </a:lnTo>
                  <a:close/>
                </a:path>
              </a:pathLst>
            </a:custGeom>
            <a:blipFill>
              <a:blip r:embed="rId4"/>
              <a:stretch>
                <a:fillRect t="-94321" b="-9432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951712" y="3783279"/>
            <a:ext cx="803593" cy="787920"/>
          </a:xfrm>
          <a:custGeom>
            <a:avLst/>
            <a:gdLst/>
            <a:ahLst/>
            <a:cxnLst/>
            <a:rect l="l" t="t" r="r" b="b"/>
            <a:pathLst>
              <a:path w="803593" h="787920">
                <a:moveTo>
                  <a:pt x="0" y="0"/>
                </a:moveTo>
                <a:lnTo>
                  <a:pt x="803593" y="0"/>
                </a:lnTo>
                <a:lnTo>
                  <a:pt x="803593" y="787919"/>
                </a:lnTo>
                <a:lnTo>
                  <a:pt x="0" y="787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716378" y="981075"/>
            <a:ext cx="2869093" cy="34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83"/>
              </a:lnSpc>
            </a:pPr>
            <a:r>
              <a:rPr lang="en-US" sz="198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Estándares de Software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32483" y="1086043"/>
            <a:ext cx="1033971" cy="34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39"/>
              </a:lnSpc>
            </a:pPr>
            <a:r>
              <a:rPr lang="en-US" sz="195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Inicio</a:t>
            </a:r>
          </a:p>
        </p:txBody>
      </p:sp>
      <p:sp>
        <p:nvSpPr>
          <p:cNvPr id="12" name="TextBox 12">
            <a:hlinkClick r:id="rId6" action="ppaction://hlinksldjump"/>
          </p:cNvPr>
          <p:cNvSpPr txBox="1"/>
          <p:nvPr/>
        </p:nvSpPr>
        <p:spPr>
          <a:xfrm>
            <a:off x="3673241" y="1086043"/>
            <a:ext cx="1033971" cy="34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39"/>
              </a:lnSpc>
            </a:pPr>
            <a:r>
              <a:rPr lang="en-US" sz="1956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IEEE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16763" y="1086043"/>
            <a:ext cx="1616264" cy="34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39"/>
              </a:lnSpc>
            </a:pPr>
            <a:r>
              <a:rPr lang="en-US" sz="195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ISO &amp; W3C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0494" y="2216580"/>
            <a:ext cx="15647012" cy="9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5"/>
              </a:lnSpc>
              <a:spcBef>
                <a:spcPct val="0"/>
              </a:spcBef>
            </a:pPr>
            <a:r>
              <a:rPr lang="en-US" sz="5995" u="none" strike="noStrike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BENEFICIOS Y MEJORES PRÁCTICAS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7376" y="4406457"/>
            <a:ext cx="7781924" cy="200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9"/>
              </a:lnSpc>
              <a:spcBef>
                <a:spcPct val="0"/>
              </a:spcBef>
            </a:pPr>
            <a:r>
              <a:rPr lang="en-US" sz="2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Documentación continua desde el inicio del proyecto. Revisiones y auditorías de código basadas en estándares. Automatización de pruebas de calidad y accesibilidad. Auditorías periódicas conforme a WCAG. ROI: inversión recuperada en 6-12 meses.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44389" y="3746057"/>
            <a:ext cx="4429611" cy="359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3"/>
              </a:lnSpc>
              <a:spcBef>
                <a:spcPct val="0"/>
              </a:spcBef>
            </a:pPr>
            <a:r>
              <a:rPr lang="en-US" sz="19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Mejores Prácticas Recomendadas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57400" y="4516996"/>
            <a:ext cx="6567317" cy="160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9"/>
              </a:lnSpc>
              <a:spcBef>
                <a:spcPct val="0"/>
              </a:spcBef>
            </a:pPr>
            <a:r>
              <a:rPr lang="en-US" sz="2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Reducción de costos de mantenimiento entre 30-40%. Mayor satisfacción y fidelización del cliente. Equipos de desarrollo más eficientes. Código más legible, modular y reutilizable.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57400" y="3856596"/>
            <a:ext cx="4655954" cy="359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3"/>
              </a:lnSpc>
              <a:spcBef>
                <a:spcPct val="0"/>
              </a:spcBef>
            </a:pPr>
            <a:r>
              <a:rPr lang="en-US" sz="19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Ventajas Organizacionales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280461"/>
            <a:ext cx="3882995" cy="3882995"/>
          </a:xfrm>
          <a:custGeom>
            <a:avLst/>
            <a:gdLst/>
            <a:ahLst/>
            <a:cxnLst/>
            <a:rect l="l" t="t" r="r" b="b"/>
            <a:pathLst>
              <a:path w="3882995" h="3882995">
                <a:moveTo>
                  <a:pt x="0" y="0"/>
                </a:moveTo>
                <a:lnTo>
                  <a:pt x="3882995" y="0"/>
                </a:lnTo>
                <a:lnTo>
                  <a:pt x="3882995" y="3882995"/>
                </a:lnTo>
                <a:lnTo>
                  <a:pt x="0" y="3882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2400" y="0"/>
            <a:ext cx="18288000" cy="7687802"/>
            <a:chOff x="0" y="0"/>
            <a:chExt cx="4816593" cy="20247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024771"/>
            </a:xfrm>
            <a:custGeom>
              <a:avLst/>
              <a:gdLst/>
              <a:ahLst/>
              <a:cxnLst/>
              <a:rect l="l" t="t" r="r" b="b"/>
              <a:pathLst>
                <a:path w="4816592" h="2024771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 rotWithShape="1">
              <a:gsLst>
                <a:gs pos="0">
                  <a:srgbClr val="110823">
                    <a:alpha val="100000"/>
                  </a:srgbClr>
                </a:gs>
                <a:gs pos="33333">
                  <a:srgbClr val="110823">
                    <a:alpha val="86000"/>
                  </a:srgbClr>
                </a:gs>
                <a:gs pos="66667">
                  <a:srgbClr val="110823">
                    <a:alpha val="175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 flipV="1">
            <a:off x="14881808" y="-298830"/>
            <a:ext cx="3882995" cy="3882995"/>
          </a:xfrm>
          <a:custGeom>
            <a:avLst/>
            <a:gdLst/>
            <a:ahLst/>
            <a:cxnLst/>
            <a:rect l="l" t="t" r="r" b="b"/>
            <a:pathLst>
              <a:path w="3882995" h="3882995">
                <a:moveTo>
                  <a:pt x="3882995" y="3882995"/>
                </a:moveTo>
                <a:lnTo>
                  <a:pt x="0" y="3882995"/>
                </a:lnTo>
                <a:lnTo>
                  <a:pt x="0" y="0"/>
                </a:lnTo>
                <a:lnTo>
                  <a:pt x="3882995" y="0"/>
                </a:lnTo>
                <a:lnTo>
                  <a:pt x="3882995" y="38829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639956" y="6138435"/>
            <a:ext cx="1241852" cy="1610181"/>
          </a:xfrm>
          <a:custGeom>
            <a:avLst/>
            <a:gdLst/>
            <a:ahLst/>
            <a:cxnLst/>
            <a:rect l="l" t="t" r="r" b="b"/>
            <a:pathLst>
              <a:path w="1241852" h="1610181">
                <a:moveTo>
                  <a:pt x="0" y="0"/>
                </a:moveTo>
                <a:lnTo>
                  <a:pt x="1241852" y="0"/>
                </a:lnTo>
                <a:lnTo>
                  <a:pt x="1241852" y="1610181"/>
                </a:lnTo>
                <a:lnTo>
                  <a:pt x="0" y="1610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09371" y="7859481"/>
            <a:ext cx="2287329" cy="2830320"/>
          </a:xfrm>
          <a:custGeom>
            <a:avLst/>
            <a:gdLst/>
            <a:ahLst/>
            <a:cxnLst/>
            <a:rect l="l" t="t" r="r" b="b"/>
            <a:pathLst>
              <a:path w="2287329" h="2830320">
                <a:moveTo>
                  <a:pt x="0" y="0"/>
                </a:moveTo>
                <a:lnTo>
                  <a:pt x="2287330" y="0"/>
                </a:lnTo>
                <a:lnTo>
                  <a:pt x="2287330" y="2830320"/>
                </a:lnTo>
                <a:lnTo>
                  <a:pt x="0" y="2830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784"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580155" y="5659676"/>
            <a:ext cx="1704656" cy="2299357"/>
          </a:xfrm>
          <a:custGeom>
            <a:avLst/>
            <a:gdLst/>
            <a:ahLst/>
            <a:cxnLst/>
            <a:rect l="l" t="t" r="r" b="b"/>
            <a:pathLst>
              <a:path w="1704656" h="2299357">
                <a:moveTo>
                  <a:pt x="0" y="0"/>
                </a:moveTo>
                <a:lnTo>
                  <a:pt x="1704656" y="0"/>
                </a:lnTo>
                <a:lnTo>
                  <a:pt x="1704656" y="2299356"/>
                </a:lnTo>
                <a:lnTo>
                  <a:pt x="0" y="2299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031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481439" y="7748616"/>
            <a:ext cx="3325122" cy="572035"/>
            <a:chOff x="0" y="0"/>
            <a:chExt cx="875752" cy="1506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5752" cy="150659"/>
            </a:xfrm>
            <a:custGeom>
              <a:avLst/>
              <a:gdLst/>
              <a:ahLst/>
              <a:cxnLst/>
              <a:rect l="l" t="t" r="r" b="b"/>
              <a:pathLst>
                <a:path w="875752" h="150659">
                  <a:moveTo>
                    <a:pt x="75330" y="0"/>
                  </a:moveTo>
                  <a:lnTo>
                    <a:pt x="800423" y="0"/>
                  </a:lnTo>
                  <a:cubicBezTo>
                    <a:pt x="842026" y="0"/>
                    <a:pt x="875752" y="33726"/>
                    <a:pt x="875752" y="75330"/>
                  </a:cubicBezTo>
                  <a:lnTo>
                    <a:pt x="875752" y="75330"/>
                  </a:lnTo>
                  <a:cubicBezTo>
                    <a:pt x="875752" y="95308"/>
                    <a:pt x="867816" y="114469"/>
                    <a:pt x="853689" y="128596"/>
                  </a:cubicBezTo>
                  <a:cubicBezTo>
                    <a:pt x="839562" y="142723"/>
                    <a:pt x="820401" y="150659"/>
                    <a:pt x="800423" y="150659"/>
                  </a:cubicBezTo>
                  <a:lnTo>
                    <a:pt x="75330" y="150659"/>
                  </a:lnTo>
                  <a:cubicBezTo>
                    <a:pt x="33726" y="150659"/>
                    <a:pt x="0" y="116933"/>
                    <a:pt x="0" y="75330"/>
                  </a:cubicBezTo>
                  <a:lnTo>
                    <a:pt x="0" y="75330"/>
                  </a:lnTo>
                  <a:cubicBezTo>
                    <a:pt x="0" y="33726"/>
                    <a:pt x="33726" y="0"/>
                    <a:pt x="75330" y="0"/>
                  </a:cubicBez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75752" cy="198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823305" y="1005559"/>
            <a:ext cx="435995" cy="420933"/>
          </a:xfrm>
          <a:custGeom>
            <a:avLst/>
            <a:gdLst/>
            <a:ahLst/>
            <a:cxnLst/>
            <a:rect l="l" t="t" r="r" b="b"/>
            <a:pathLst>
              <a:path w="435995" h="420933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28700" y="1028700"/>
            <a:ext cx="1028700" cy="534702"/>
            <a:chOff x="0" y="0"/>
            <a:chExt cx="270933" cy="1408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140827"/>
            </a:xfrm>
            <a:custGeom>
              <a:avLst/>
              <a:gdLst/>
              <a:ahLst/>
              <a:cxnLst/>
              <a:rect l="l" t="t" r="r" b="b"/>
              <a:pathLst>
                <a:path w="270933" h="140827">
                  <a:moveTo>
                    <a:pt x="0" y="0"/>
                  </a:moveTo>
                  <a:lnTo>
                    <a:pt x="270933" y="0"/>
                  </a:lnTo>
                  <a:lnTo>
                    <a:pt x="270933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00ED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70933" cy="188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82847" y="1163300"/>
            <a:ext cx="320407" cy="213471"/>
          </a:xfrm>
          <a:custGeom>
            <a:avLst/>
            <a:gdLst/>
            <a:ahLst/>
            <a:cxnLst/>
            <a:rect l="l" t="t" r="r" b="b"/>
            <a:pathLst>
              <a:path w="320407" h="213471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978629" y="1761839"/>
            <a:ext cx="14330743" cy="346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4"/>
              </a:lnSpc>
            </a:pPr>
            <a:r>
              <a:rPr lang="en-US" sz="18146" spc="-762">
                <a:solidFill>
                  <a:srgbClr val="00EDFF"/>
                </a:solidFill>
                <a:latin typeface="Academy"/>
                <a:ea typeface="Academy"/>
                <a:cs typeface="Academy"/>
                <a:sym typeface="Academy"/>
              </a:rPr>
              <a:t>¡GRACIAS!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99243" y="5129409"/>
            <a:ext cx="13689514" cy="47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5"/>
              </a:lnSpc>
            </a:pPr>
            <a:r>
              <a:rPr lang="en-US" sz="1861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LA EXCELENCIA EN INGENIERÍA DE SOFTWARE SE CONSTRUYE SOBRE ESTÁNDARES INTERNACIONALES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9002520"/>
            <a:ext cx="16012603" cy="692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1"/>
              </a:lnSpc>
            </a:pPr>
            <a:r>
              <a:rPr lang="en-US" sz="2935" spc="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INO-13624 | ESTUDIANTE: ALEXANDER | DOCENTE: LIC. HERNÁNDEZ</a:t>
            </a:r>
          </a:p>
          <a:p>
            <a:pPr marL="0" lvl="0" indent="0" algn="ctr">
              <a:lnSpc>
                <a:spcPts val="2641"/>
              </a:lnSpc>
            </a:pPr>
            <a:r>
              <a:rPr lang="en-US" sz="2935" spc="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MÓDULO 3.4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21805" y="7799683"/>
            <a:ext cx="364439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IEEE • ISO • W3C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6378" y="981075"/>
            <a:ext cx="2869093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Estándares de Software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32483" y="1124143"/>
            <a:ext cx="1033971" cy="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Calidad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73241" y="1124143"/>
            <a:ext cx="1033971" cy="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Seguridad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16763" y="1124143"/>
            <a:ext cx="1616264" cy="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Accesibilidad</a:t>
            </a:r>
          </a:p>
        </p:txBody>
      </p:sp>
      <p:sp>
        <p:nvSpPr>
          <p:cNvPr id="27" name="Freeform 27"/>
          <p:cNvSpPr/>
          <p:nvPr/>
        </p:nvSpPr>
        <p:spPr>
          <a:xfrm>
            <a:off x="7466935" y="6565417"/>
            <a:ext cx="3354130" cy="487873"/>
          </a:xfrm>
          <a:custGeom>
            <a:avLst/>
            <a:gdLst/>
            <a:ahLst/>
            <a:cxnLst/>
            <a:rect l="l" t="t" r="r" b="b"/>
            <a:pathLst>
              <a:path w="3354130" h="487873">
                <a:moveTo>
                  <a:pt x="0" y="0"/>
                </a:moveTo>
                <a:lnTo>
                  <a:pt x="3354130" y="0"/>
                </a:lnTo>
                <a:lnTo>
                  <a:pt x="3354130" y="487874"/>
                </a:lnTo>
                <a:lnTo>
                  <a:pt x="0" y="487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0241743" y="3515542"/>
            <a:ext cx="1129636" cy="1334999"/>
          </a:xfrm>
          <a:custGeom>
            <a:avLst/>
            <a:gdLst/>
            <a:ahLst/>
            <a:cxnLst/>
            <a:rect l="l" t="t" r="r" b="b"/>
            <a:pathLst>
              <a:path w="1129636" h="1334999">
                <a:moveTo>
                  <a:pt x="0" y="0"/>
                </a:moveTo>
                <a:lnTo>
                  <a:pt x="1129636" y="0"/>
                </a:lnTo>
                <a:lnTo>
                  <a:pt x="1129636" y="1335000"/>
                </a:lnTo>
                <a:lnTo>
                  <a:pt x="0" y="133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857" b="-485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770</Words>
  <Application>Microsoft Office PowerPoint</Application>
  <PresentationFormat>Personalizado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Calibri</vt:lpstr>
      <vt:lpstr>Academy</vt:lpstr>
      <vt:lpstr>Roboto Bold</vt:lpstr>
      <vt:lpstr>Arial</vt:lpstr>
      <vt:lpstr>Poppins Ultra-Bold</vt:lpstr>
      <vt:lpstr>Nunito</vt:lpstr>
      <vt:lpstr>Poppins</vt:lpstr>
      <vt:lpstr>Poppins Bold</vt:lpstr>
      <vt:lpstr>Canva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Estándares IEEE ISO W3C: Ciclo Software</dc:title>
  <cp:lastModifiedBy>19792127@clases.edu.sv</cp:lastModifiedBy>
  <cp:revision>2</cp:revision>
  <dcterms:created xsi:type="dcterms:W3CDTF">2006-08-16T00:00:00Z</dcterms:created>
  <dcterms:modified xsi:type="dcterms:W3CDTF">2026-05-26T13:25:34Z</dcterms:modified>
  <dc:identifier>DAHKmB8NIUY</dc:identifier>
</cp:coreProperties>
</file>