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9" r:id="rId12"/>
    <p:sldId id="270" r:id="rId13"/>
    <p:sldId id="272" r:id="rId14"/>
  </p:sldIdLst>
  <p:sldSz cx="18288000" cy="10287000"/>
  <p:notesSz cx="6858000" cy="9144000"/>
  <p:embeddedFontLst>
    <p:embeddedFont>
      <p:font typeface="Open Sans" panose="020B0606030504020204" pitchFamily="34" charset="0"/>
      <p:regular r:id="rId15"/>
    </p:embeddedFont>
    <p:embeddedFont>
      <p:font typeface="Open Sans Bold" panose="020B0604020202020204" charset="0"/>
      <p:regular r:id="rId16"/>
    </p:embeddedFont>
    <p:embeddedFont>
      <p:font typeface="Poppi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36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s-SV" dirty="0"/>
          </a:p>
        </p:txBody>
      </p:sp>
      <p:sp>
        <p:nvSpPr>
          <p:cNvPr id="3" name="TextBox 3"/>
          <p:cNvSpPr txBox="1"/>
          <p:nvPr/>
        </p:nvSpPr>
        <p:spPr>
          <a:xfrm>
            <a:off x="1123748" y="3496512"/>
            <a:ext cx="16040504" cy="106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50"/>
              </a:lnSpc>
            </a:pPr>
            <a:r>
              <a:rPr lang="en-US" sz="589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Guías de Trabajo Semanales - Módulo 3.4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65489"/>
            <a:ext cx="16230600" cy="344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n-US" sz="4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Elaboración</a:t>
            </a:r>
            <a:r>
              <a:rPr lang="en-US" sz="4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</a:t>
            </a:r>
            <a:r>
              <a:rPr lang="en-US" sz="4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Sistemas </a:t>
            </a:r>
            <a:r>
              <a:rPr lang="en-US" sz="4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Informáticos</a:t>
            </a:r>
            <a:r>
              <a:rPr lang="en-US" sz="4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5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65081" y="2773739"/>
            <a:ext cx="13000068" cy="586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75"/>
              </a:lnSpc>
            </a:pP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Bachillerato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Técnico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Vocacional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Desarrollo de Software |</a:t>
            </a:r>
          </a:p>
          <a:p>
            <a:pPr marL="0" lvl="0" indent="0" algn="ctr">
              <a:lnSpc>
                <a:spcPts val="2175"/>
              </a:lnSpc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Prof. Juan Francisco Hernández | 22 Julio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22885" y="6652760"/>
            <a:ext cx="2442230" cy="20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</a:pPr>
            <a:endParaRPr lang="en-US" sz="1200" b="1" dirty="0">
              <a:solidFill>
                <a:srgbClr val="00133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956040" y="1208448"/>
            <a:ext cx="375921" cy="1246044"/>
            <a:chOff x="0" y="0"/>
            <a:chExt cx="501228" cy="1661392"/>
          </a:xfrm>
        </p:grpSpPr>
        <p:sp>
          <p:nvSpPr>
            <p:cNvPr id="11" name="AutoShape 11"/>
            <p:cNvSpPr/>
            <p:nvPr/>
          </p:nvSpPr>
          <p:spPr>
            <a:xfrm flipH="1">
              <a:off x="25400" y="129"/>
              <a:ext cx="8453" cy="166113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 flipH="1">
              <a:off x="467375" y="129"/>
              <a:ext cx="8453" cy="166113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956040" y="7828211"/>
            <a:ext cx="375921" cy="1246044"/>
            <a:chOff x="0" y="0"/>
            <a:chExt cx="501228" cy="1661392"/>
          </a:xfrm>
        </p:grpSpPr>
        <p:sp>
          <p:nvSpPr>
            <p:cNvPr id="14" name="AutoShape 14"/>
            <p:cNvSpPr/>
            <p:nvPr/>
          </p:nvSpPr>
          <p:spPr>
            <a:xfrm flipH="1">
              <a:off x="25400" y="129"/>
              <a:ext cx="8453" cy="166113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AutoShape 15"/>
            <p:cNvSpPr/>
            <p:nvPr/>
          </p:nvSpPr>
          <p:spPr>
            <a:xfrm flipH="1">
              <a:off x="467375" y="129"/>
              <a:ext cx="8453" cy="166113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" name="AutoShape 16"/>
          <p:cNvSpPr/>
          <p:nvPr/>
        </p:nvSpPr>
        <p:spPr>
          <a:xfrm flipV="1">
            <a:off x="1028700" y="1227498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028700" y="9055204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565" y="4562215"/>
            <a:ext cx="4704284" cy="4887215"/>
            <a:chOff x="0" y="0"/>
            <a:chExt cx="1238988" cy="1287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SV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89590" y="4471801"/>
            <a:ext cx="4704284" cy="4887215"/>
            <a:chOff x="0" y="0"/>
            <a:chExt cx="1238988" cy="1287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8617" y="4562215"/>
            <a:ext cx="4704284" cy="4887215"/>
            <a:chOff x="0" y="0"/>
            <a:chExt cx="1238988" cy="12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00959" y="3380468"/>
            <a:ext cx="2363494" cy="23634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62253" y="3380468"/>
            <a:ext cx="2363494" cy="236349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419012" y="3380468"/>
            <a:ext cx="2363494" cy="23634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73157" y="857250"/>
            <a:ext cx="9341687" cy="224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14"/>
              </a:lnSpc>
            </a:pPr>
            <a:r>
              <a:rPr lang="en-US" sz="6295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de la Presentación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4075" y="6169571"/>
            <a:ext cx="26772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0"/>
              </a:lnSpc>
            </a:pPr>
            <a:r>
              <a:rPr lang="en-US" sz="24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Explicar</a:t>
            </a:r>
            <a:r>
              <a:rPr lang="en-US" sz="24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las </a:t>
            </a:r>
            <a:r>
              <a:rPr lang="en-US" sz="24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guías</a:t>
            </a:r>
            <a:endParaRPr lang="en-US" sz="24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048359" y="6169571"/>
            <a:ext cx="4186747" cy="323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90"/>
              </a:lnSpc>
            </a:pPr>
            <a:r>
              <a:rPr lang="en-US" sz="24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Comprender</a:t>
            </a:r>
            <a:r>
              <a:rPr lang="en-US" sz="24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actividades</a:t>
            </a:r>
            <a:endParaRPr lang="en-US" sz="24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262127" y="6169571"/>
            <a:ext cx="26772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0"/>
              </a:lnSpc>
            </a:pP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Promover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normas</a:t>
            </a:r>
            <a:endParaRPr lang="en-US" sz="2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39287" y="6642486"/>
            <a:ext cx="3686837" cy="266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manera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clara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las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guías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trabajo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semanal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las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etapas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3 y 4 del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3.4,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identificando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propósito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relación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con el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proceso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informáticos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1295" y="6642486"/>
            <a:ext cx="3680876" cy="236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Comprender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las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actividades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herramientas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entregables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esperados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etapa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diferenciando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intermedios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productos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finales del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70946" y="6687514"/>
            <a:ext cx="3656985" cy="236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Promover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cumplimiento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normas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internacionales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IEEE 829 e ISO/IEC 26514,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fomentando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buenas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prácticas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documentales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organización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eficiente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trabajo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353112" cy="10287000"/>
            <a:chOff x="0" y="0"/>
            <a:chExt cx="11464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499" cy="2709333"/>
            </a:xfrm>
            <a:custGeom>
              <a:avLst/>
              <a:gdLst/>
              <a:ahLst/>
              <a:cxnLst/>
              <a:rect l="l" t="t" r="r" b="b"/>
              <a:pathLst>
                <a:path w="1146499" h="2709333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-422337"/>
            <a:ext cx="7134025" cy="6645374"/>
            <a:chOff x="0" y="0"/>
            <a:chExt cx="1105247" cy="1029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5247" cy="1029542"/>
            </a:xfrm>
            <a:custGeom>
              <a:avLst/>
              <a:gdLst/>
              <a:ahLst/>
              <a:cxnLst/>
              <a:rect l="l" t="t" r="r" b="b"/>
              <a:pathLst>
                <a:path w="1105247" h="1029542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-13" r="-13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615689" y="6737386"/>
            <a:ext cx="6928182" cy="2525415"/>
            <a:chOff x="0" y="0"/>
            <a:chExt cx="1073357" cy="391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3357" cy="391253"/>
            </a:xfrm>
            <a:custGeom>
              <a:avLst/>
              <a:gdLst/>
              <a:ahLst/>
              <a:cxnLst/>
              <a:rect l="l" t="t" r="r" b="b"/>
              <a:pathLst>
                <a:path w="1073357" h="391253">
                  <a:moveTo>
                    <a:pt x="43581" y="0"/>
                  </a:moveTo>
                  <a:lnTo>
                    <a:pt x="1029776" y="0"/>
                  </a:lnTo>
                  <a:cubicBezTo>
                    <a:pt x="1053845" y="0"/>
                    <a:pt x="1073357" y="19512"/>
                    <a:pt x="1073357" y="43581"/>
                  </a:cubicBezTo>
                  <a:lnTo>
                    <a:pt x="1073357" y="347672"/>
                  </a:lnTo>
                  <a:cubicBezTo>
                    <a:pt x="1073357" y="371741"/>
                    <a:pt x="1053845" y="391253"/>
                    <a:pt x="1029776" y="391253"/>
                  </a:cubicBezTo>
                  <a:lnTo>
                    <a:pt x="43581" y="391253"/>
                  </a:lnTo>
                  <a:cubicBezTo>
                    <a:pt x="19512" y="391253"/>
                    <a:pt x="0" y="371741"/>
                    <a:pt x="0" y="347672"/>
                  </a:cubicBezTo>
                  <a:lnTo>
                    <a:pt x="0" y="43581"/>
                  </a:lnTo>
                  <a:cubicBezTo>
                    <a:pt x="0" y="19512"/>
                    <a:pt x="19512" y="0"/>
                    <a:pt x="43581" y="0"/>
                  </a:cubicBezTo>
                  <a:close/>
                </a:path>
              </a:pathLst>
            </a:custGeom>
            <a:blipFill>
              <a:blip r:embed="rId3"/>
              <a:stretch>
                <a:fillRect t="-409" b="-4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0740" y="4081067"/>
            <a:ext cx="943132" cy="9431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0740" y="5367098"/>
            <a:ext cx="943132" cy="94313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00740" y="1526472"/>
            <a:ext cx="7658560" cy="86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4"/>
              </a:lnSpc>
            </a:pPr>
            <a:r>
              <a:rPr lang="en-US" sz="4745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Etapas del Módulo 3.4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2899" y="4187508"/>
            <a:ext cx="6245936" cy="763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9"/>
              </a:lnSpc>
            </a:pPr>
            <a:r>
              <a:rPr lang="en-US" sz="2206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Etapa 3 – Decidir: definir la estrategia documental del proyecto.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72899" y="5473540"/>
            <a:ext cx="6245936" cy="2491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9"/>
              </a:lnSpc>
            </a:pPr>
            <a:r>
              <a:rPr lang="en-US" sz="2406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Etapa 4 – Ejecutar: redactar y estructurar la documentación de sistemas informáticos. Ambas etapas se centran en garantizar calidad, cumplir normativas internacionales y adaptar el contenido al perfil de los usuarios finales.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5027" y="4327208"/>
            <a:ext cx="754557" cy="32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6"/>
              </a:lnSpc>
            </a:pPr>
            <a:r>
              <a:rPr lang="en-US" sz="188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95027" y="5613239"/>
            <a:ext cx="754557" cy="32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6"/>
              </a:lnSpc>
            </a:pPr>
            <a:r>
              <a:rPr lang="en-US" sz="1883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0740" y="1000125"/>
            <a:ext cx="2102885" cy="29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31"/>
              </a:lnSpc>
            </a:pPr>
            <a:r>
              <a:rPr lang="en-US" sz="1807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Etapas del Módulo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6737386"/>
            <a:ext cx="2104033" cy="2520914"/>
            <a:chOff x="0" y="0"/>
            <a:chExt cx="554149" cy="663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4149" cy="663945"/>
            </a:xfrm>
            <a:custGeom>
              <a:avLst/>
              <a:gdLst/>
              <a:ahLst/>
              <a:cxnLst/>
              <a:rect l="l" t="t" r="r" b="b"/>
              <a:pathLst>
                <a:path w="554149" h="663945">
                  <a:moveTo>
                    <a:pt x="147182" y="0"/>
                  </a:moveTo>
                  <a:lnTo>
                    <a:pt x="406966" y="0"/>
                  </a:lnTo>
                  <a:cubicBezTo>
                    <a:pt x="488253" y="0"/>
                    <a:pt x="554149" y="65896"/>
                    <a:pt x="554149" y="147182"/>
                  </a:cubicBezTo>
                  <a:lnTo>
                    <a:pt x="554149" y="516762"/>
                  </a:lnTo>
                  <a:cubicBezTo>
                    <a:pt x="554149" y="555797"/>
                    <a:pt x="538642" y="593234"/>
                    <a:pt x="511040" y="620836"/>
                  </a:cubicBezTo>
                  <a:cubicBezTo>
                    <a:pt x="483438" y="648438"/>
                    <a:pt x="446001" y="663945"/>
                    <a:pt x="406966" y="663945"/>
                  </a:cubicBezTo>
                  <a:lnTo>
                    <a:pt x="147182" y="663945"/>
                  </a:lnTo>
                  <a:cubicBezTo>
                    <a:pt x="65896" y="663945"/>
                    <a:pt x="0" y="598049"/>
                    <a:pt x="0" y="516762"/>
                  </a:cubicBezTo>
                  <a:lnTo>
                    <a:pt x="0" y="147182"/>
                  </a:lnTo>
                  <a:cubicBezTo>
                    <a:pt x="0" y="65896"/>
                    <a:pt x="65896" y="0"/>
                    <a:pt x="147182" y="0"/>
                  </a:cubicBezTo>
                  <a:close/>
                </a:path>
              </a:pathLst>
            </a:custGeom>
            <a:solidFill>
              <a:srgbClr val="FFBD59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54149" cy="71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5990" y="7244370"/>
            <a:ext cx="1976743" cy="106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40"/>
              </a:lnSpc>
            </a:pPr>
            <a:r>
              <a:rPr lang="en-US" sz="6314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29696" y="0"/>
            <a:ext cx="5258304" cy="2983658"/>
            <a:chOff x="0" y="0"/>
            <a:chExt cx="1384903" cy="785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4903" cy="785819"/>
            </a:xfrm>
            <a:custGeom>
              <a:avLst/>
              <a:gdLst/>
              <a:ahLst/>
              <a:cxnLst/>
              <a:rect l="l" t="t" r="r" b="b"/>
              <a:pathLst>
                <a:path w="1384903" h="785819">
                  <a:moveTo>
                    <a:pt x="0" y="0"/>
                  </a:moveTo>
                  <a:lnTo>
                    <a:pt x="1384903" y="0"/>
                  </a:lnTo>
                  <a:lnTo>
                    <a:pt x="1384903" y="785819"/>
                  </a:lnTo>
                  <a:lnTo>
                    <a:pt x="0" y="785819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84903" cy="833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195399" y="5400100"/>
            <a:ext cx="5668594" cy="4299053"/>
            <a:chOff x="0" y="0"/>
            <a:chExt cx="1492963" cy="11322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92963" cy="1132261"/>
            </a:xfrm>
            <a:custGeom>
              <a:avLst/>
              <a:gdLst/>
              <a:ahLst/>
              <a:cxnLst/>
              <a:rect l="l" t="t" r="r" b="b"/>
              <a:pathLst>
                <a:path w="1492963" h="1132261">
                  <a:moveTo>
                    <a:pt x="54630" y="0"/>
                  </a:moveTo>
                  <a:lnTo>
                    <a:pt x="1438333" y="0"/>
                  </a:lnTo>
                  <a:cubicBezTo>
                    <a:pt x="1468504" y="0"/>
                    <a:pt x="1492963" y="24459"/>
                    <a:pt x="1492963" y="54630"/>
                  </a:cubicBezTo>
                  <a:lnTo>
                    <a:pt x="1492963" y="1077631"/>
                  </a:lnTo>
                  <a:cubicBezTo>
                    <a:pt x="1492963" y="1092119"/>
                    <a:pt x="1487207" y="1106015"/>
                    <a:pt x="1476962" y="1116260"/>
                  </a:cubicBezTo>
                  <a:cubicBezTo>
                    <a:pt x="1466717" y="1126505"/>
                    <a:pt x="1452822" y="1132261"/>
                    <a:pt x="1438333" y="1132261"/>
                  </a:cubicBezTo>
                  <a:lnTo>
                    <a:pt x="54630" y="1132261"/>
                  </a:lnTo>
                  <a:cubicBezTo>
                    <a:pt x="24459" y="1132261"/>
                    <a:pt x="0" y="1107802"/>
                    <a:pt x="0" y="1077631"/>
                  </a:cubicBezTo>
                  <a:lnTo>
                    <a:pt x="0" y="54630"/>
                  </a:lnTo>
                  <a:cubicBezTo>
                    <a:pt x="0" y="40141"/>
                    <a:pt x="5756" y="26246"/>
                    <a:pt x="16001" y="16001"/>
                  </a:cubicBezTo>
                  <a:cubicBezTo>
                    <a:pt x="26246" y="5756"/>
                    <a:pt x="40141" y="0"/>
                    <a:pt x="54630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92963" cy="1179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21736" y="1746882"/>
            <a:ext cx="6683611" cy="205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75"/>
              </a:lnSpc>
            </a:pPr>
            <a:r>
              <a:rPr lang="en-US" sz="576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ETAPA 3 – Decidir: Flujo de Trabajo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736" y="1311908"/>
            <a:ext cx="2102885" cy="39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3.4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8786" y="4541595"/>
            <a:ext cx="5031253" cy="1627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9"/>
              </a:lnSpc>
            </a:pPr>
            <a:r>
              <a:rPr lang="en-US" sz="2306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Paso 1: Investigar normas IEEE 829 e ISO/IEC 26514 para definir qué exige una documentación técnica de calidad.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18786" y="6582288"/>
            <a:ext cx="4609367" cy="193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9"/>
              </a:lnSpc>
            </a:pPr>
            <a:r>
              <a:rPr lang="en-US" sz="2206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Paso 2: Analizar un manual "bueno" (Microsoft Word 365) identificando estructura, lenguaje claro, capturas y manejo de errores.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7203" y="6226868"/>
            <a:ext cx="4609367" cy="323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9"/>
              </a:lnSpc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3: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Analizar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 manual "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malo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 (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traducción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automática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detectando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errores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graves. Paso 4: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Construir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tabla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comparativa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Paso 5: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Redactar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conclusión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sobre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importancia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estándares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internacionales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21736" y="4444679"/>
            <a:ext cx="943132" cy="943176"/>
            <a:chOff x="0" y="0"/>
            <a:chExt cx="1257509" cy="125756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57509" cy="1257568"/>
              <a:chOff x="0" y="0"/>
              <a:chExt cx="812800" cy="81283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3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38">
                    <a:moveTo>
                      <a:pt x="406400" y="0"/>
                    </a:moveTo>
                    <a:cubicBezTo>
                      <a:pt x="181951" y="0"/>
                      <a:pt x="0" y="181960"/>
                      <a:pt x="0" y="406419"/>
                    </a:cubicBezTo>
                    <a:cubicBezTo>
                      <a:pt x="0" y="630878"/>
                      <a:pt x="181951" y="812838"/>
                      <a:pt x="406400" y="812838"/>
                    </a:cubicBezTo>
                    <a:cubicBezTo>
                      <a:pt x="630849" y="812838"/>
                      <a:pt x="812800" y="630878"/>
                      <a:pt x="812800" y="406419"/>
                    </a:cubicBezTo>
                    <a:cubicBezTo>
                      <a:pt x="812800" y="1819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9"/>
                <a:ext cx="660400" cy="708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5716" y="331363"/>
              <a:ext cx="1006076" cy="547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 b="1">
                  <a:solidFill>
                    <a:srgbClr val="0013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8480" y="6193706"/>
            <a:ext cx="943132" cy="943176"/>
            <a:chOff x="0" y="0"/>
            <a:chExt cx="1257509" cy="125756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257509" cy="1257568"/>
              <a:chOff x="0" y="0"/>
              <a:chExt cx="812800" cy="81283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3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38">
                    <a:moveTo>
                      <a:pt x="406400" y="0"/>
                    </a:moveTo>
                    <a:cubicBezTo>
                      <a:pt x="181951" y="0"/>
                      <a:pt x="0" y="181960"/>
                      <a:pt x="0" y="406419"/>
                    </a:cubicBezTo>
                    <a:cubicBezTo>
                      <a:pt x="0" y="630878"/>
                      <a:pt x="181951" y="812838"/>
                      <a:pt x="406400" y="812838"/>
                    </a:cubicBezTo>
                    <a:cubicBezTo>
                      <a:pt x="630849" y="812838"/>
                      <a:pt x="812800" y="630878"/>
                      <a:pt x="812800" y="406419"/>
                    </a:cubicBezTo>
                    <a:cubicBezTo>
                      <a:pt x="812800" y="1819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33B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9"/>
                <a:ext cx="660400" cy="708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5716" y="331363"/>
              <a:ext cx="1006076" cy="547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4811040" cy="10287000"/>
            <a:chOff x="0" y="0"/>
            <a:chExt cx="126710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7105" cy="2709333"/>
            </a:xfrm>
            <a:custGeom>
              <a:avLst/>
              <a:gdLst/>
              <a:ahLst/>
              <a:cxnLst/>
              <a:rect l="l" t="t" r="r" b="b"/>
              <a:pathLst>
                <a:path w="1267105" h="2709333">
                  <a:moveTo>
                    <a:pt x="0" y="0"/>
                  </a:moveTo>
                  <a:lnTo>
                    <a:pt x="1267105" y="0"/>
                  </a:lnTo>
                  <a:lnTo>
                    <a:pt x="12671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710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61825" y="1028700"/>
            <a:ext cx="6480717" cy="8229600"/>
            <a:chOff x="0" y="0"/>
            <a:chExt cx="1004033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4033" cy="1274980"/>
            </a:xfrm>
            <a:custGeom>
              <a:avLst/>
              <a:gdLst/>
              <a:ahLst/>
              <a:cxnLst/>
              <a:rect l="l" t="t" r="r" b="b"/>
              <a:pathLst>
                <a:path w="1004033" h="1274980">
                  <a:moveTo>
                    <a:pt x="47784" y="0"/>
                  </a:moveTo>
                  <a:lnTo>
                    <a:pt x="956248" y="0"/>
                  </a:lnTo>
                  <a:cubicBezTo>
                    <a:pt x="982639" y="0"/>
                    <a:pt x="1004033" y="21394"/>
                    <a:pt x="1004033" y="47784"/>
                  </a:cubicBezTo>
                  <a:lnTo>
                    <a:pt x="1004033" y="1227196"/>
                  </a:lnTo>
                  <a:cubicBezTo>
                    <a:pt x="1004033" y="1239869"/>
                    <a:pt x="998998" y="1252023"/>
                    <a:pt x="990037" y="1260985"/>
                  </a:cubicBezTo>
                  <a:cubicBezTo>
                    <a:pt x="981076" y="1269946"/>
                    <a:pt x="968921" y="1274980"/>
                    <a:pt x="956248" y="1274980"/>
                  </a:cubicBezTo>
                  <a:lnTo>
                    <a:pt x="47784" y="1274980"/>
                  </a:lnTo>
                  <a:cubicBezTo>
                    <a:pt x="21394" y="1274980"/>
                    <a:pt x="0" y="1253587"/>
                    <a:pt x="0" y="1227196"/>
                  </a:cubicBezTo>
                  <a:lnTo>
                    <a:pt x="0" y="47784"/>
                  </a:lnTo>
                  <a:cubicBezTo>
                    <a:pt x="0" y="21394"/>
                    <a:pt x="21394" y="0"/>
                    <a:pt x="47784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7" name="AutoShape 7"/>
          <p:cNvSpPr/>
          <p:nvPr/>
        </p:nvSpPr>
        <p:spPr>
          <a:xfrm flipH="1">
            <a:off x="10519962" y="4462224"/>
            <a:ext cx="3170" cy="2965547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287407" y="4229580"/>
            <a:ext cx="465110" cy="46511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49312" y="4272895"/>
            <a:ext cx="334186" cy="33418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3851" y="7134241"/>
            <a:ext cx="465110" cy="4651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49312" y="7199703"/>
            <a:ext cx="334186" cy="33418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407" y="1548764"/>
            <a:ext cx="7391170" cy="55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0"/>
              </a:lnSpc>
            </a:pPr>
            <a:r>
              <a:rPr lang="en-US" sz="3150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Investigación Normativa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43790" y="4794267"/>
            <a:ext cx="6115510" cy="249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17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Esta norma del Instituto de Ingenieros Eléctricos y Electrónicos establece plantillas y contenidos para documentar pruebas de software. Define secciones como identificador, elementos a probar, enfoque, criterios de aprobación, resultados esperados y gestión de incidencias. Su objetivo es garantizar que la documentación de pruebas sea clara, reproducible y útil para equipos técnicos. Fuente oficial: standards.ieee.org.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3790" y="7570776"/>
            <a:ext cx="6115510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6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Este estándar internacional describe cómo planificar, diseñar, redactar y evaluar documentación destinada a usuarios finales de sistemas informáticos. Enfatiza la necesidad de conocer al público objetivo, usar lenguaje claro, organizar la información por tareas y verificar la usabilidad documental. Fuente oficial: iso.org.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3851" y="1009650"/>
            <a:ext cx="210288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3.4 – Etapa 3: Decidir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43790" y="4244320"/>
            <a:ext cx="3057755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699" b="1">
                <a:solidFill>
                  <a:srgbClr val="4340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IEEE 829 – Estructura de pruebas y documentación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353112" cy="10287000"/>
            <a:chOff x="0" y="0"/>
            <a:chExt cx="11464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499" cy="2709333"/>
            </a:xfrm>
            <a:custGeom>
              <a:avLst/>
              <a:gdLst/>
              <a:ahLst/>
              <a:cxnLst/>
              <a:rect l="l" t="t" r="r" b="b"/>
              <a:pathLst>
                <a:path w="1146499" h="2709333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613" y="-44407"/>
            <a:ext cx="7134025" cy="6645374"/>
            <a:chOff x="0" y="0"/>
            <a:chExt cx="1105247" cy="1029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5247" cy="1029542"/>
            </a:xfrm>
            <a:custGeom>
              <a:avLst/>
              <a:gdLst/>
              <a:ahLst/>
              <a:cxnLst/>
              <a:rect l="l" t="t" r="r" b="b"/>
              <a:pathLst>
                <a:path w="1105247" h="1029542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-13" r="-13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615689" y="6737386"/>
            <a:ext cx="6928182" cy="2525415"/>
            <a:chOff x="0" y="0"/>
            <a:chExt cx="1073357" cy="391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3357" cy="391253"/>
            </a:xfrm>
            <a:custGeom>
              <a:avLst/>
              <a:gdLst/>
              <a:ahLst/>
              <a:cxnLst/>
              <a:rect l="l" t="t" r="r" b="b"/>
              <a:pathLst>
                <a:path w="1073357" h="391253">
                  <a:moveTo>
                    <a:pt x="43581" y="0"/>
                  </a:moveTo>
                  <a:lnTo>
                    <a:pt x="1029776" y="0"/>
                  </a:lnTo>
                  <a:cubicBezTo>
                    <a:pt x="1053845" y="0"/>
                    <a:pt x="1073357" y="19512"/>
                    <a:pt x="1073357" y="43581"/>
                  </a:cubicBezTo>
                  <a:lnTo>
                    <a:pt x="1073357" y="347672"/>
                  </a:lnTo>
                  <a:cubicBezTo>
                    <a:pt x="1073357" y="371741"/>
                    <a:pt x="1053845" y="391253"/>
                    <a:pt x="1029776" y="391253"/>
                  </a:cubicBezTo>
                  <a:lnTo>
                    <a:pt x="43581" y="391253"/>
                  </a:lnTo>
                  <a:cubicBezTo>
                    <a:pt x="19512" y="391253"/>
                    <a:pt x="0" y="371741"/>
                    <a:pt x="0" y="347672"/>
                  </a:cubicBezTo>
                  <a:lnTo>
                    <a:pt x="0" y="43581"/>
                  </a:lnTo>
                  <a:cubicBezTo>
                    <a:pt x="0" y="19512"/>
                    <a:pt x="19512" y="0"/>
                    <a:pt x="43581" y="0"/>
                  </a:cubicBezTo>
                  <a:close/>
                </a:path>
              </a:pathLst>
            </a:custGeom>
            <a:blipFill>
              <a:blip r:embed="rId3"/>
              <a:stretch>
                <a:fillRect t="-409" b="-4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0740" y="4081067"/>
            <a:ext cx="943132" cy="9431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0740" y="5367098"/>
            <a:ext cx="943132" cy="94313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00740" y="1545522"/>
            <a:ext cx="7658560" cy="148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13"/>
              </a:lnSpc>
            </a:pPr>
            <a:r>
              <a:rPr lang="en-US" sz="4152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Manuales: Buenas y Malas Prácticas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2899" y="4177983"/>
            <a:ext cx="6245936" cy="105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5"/>
              </a:lnSpc>
            </a:pPr>
            <a:r>
              <a:rPr lang="en-US" sz="201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Manual bueno: Microsoft Word 365 — estructura clara, lenguaje adaptado al usuario, capturas ilustrativas y manejo de errores.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72899" y="5464015"/>
            <a:ext cx="6245936" cy="175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5"/>
              </a:lnSpc>
            </a:pPr>
            <a:r>
              <a:rPr lang="en-US" sz="201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Manual malo: traducción automática de un manual de GitHub — contiene errores graves, ambigüedades y pasos confusos que afectan la experiencia del usuario y dificultan la ejecución correcta de las tareas.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5027" y="4327208"/>
            <a:ext cx="754557" cy="28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6"/>
              </a:lnSpc>
            </a:pPr>
            <a:r>
              <a:rPr lang="en-US" sz="164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95027" y="5613239"/>
            <a:ext cx="754557" cy="28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6"/>
              </a:lnSpc>
            </a:pPr>
            <a:r>
              <a:rPr lang="en-US" sz="1647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0740" y="990600"/>
            <a:ext cx="2102885" cy="27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4"/>
              </a:lnSpc>
            </a:pPr>
            <a:r>
              <a:rPr lang="en-US" sz="1581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de Manuales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6737386"/>
            <a:ext cx="2104033" cy="2520914"/>
            <a:chOff x="0" y="0"/>
            <a:chExt cx="554149" cy="663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4149" cy="663945"/>
            </a:xfrm>
            <a:custGeom>
              <a:avLst/>
              <a:gdLst/>
              <a:ahLst/>
              <a:cxnLst/>
              <a:rect l="l" t="t" r="r" b="b"/>
              <a:pathLst>
                <a:path w="554149" h="663945">
                  <a:moveTo>
                    <a:pt x="147182" y="0"/>
                  </a:moveTo>
                  <a:lnTo>
                    <a:pt x="406966" y="0"/>
                  </a:lnTo>
                  <a:cubicBezTo>
                    <a:pt x="488253" y="0"/>
                    <a:pt x="554149" y="65896"/>
                    <a:pt x="554149" y="147182"/>
                  </a:cubicBezTo>
                  <a:lnTo>
                    <a:pt x="554149" y="516762"/>
                  </a:lnTo>
                  <a:cubicBezTo>
                    <a:pt x="554149" y="555797"/>
                    <a:pt x="538642" y="593234"/>
                    <a:pt x="511040" y="620836"/>
                  </a:cubicBezTo>
                  <a:cubicBezTo>
                    <a:pt x="483438" y="648438"/>
                    <a:pt x="446001" y="663945"/>
                    <a:pt x="406966" y="663945"/>
                  </a:cubicBezTo>
                  <a:lnTo>
                    <a:pt x="147182" y="663945"/>
                  </a:lnTo>
                  <a:cubicBezTo>
                    <a:pt x="65896" y="663945"/>
                    <a:pt x="0" y="598049"/>
                    <a:pt x="0" y="516762"/>
                  </a:cubicBezTo>
                  <a:lnTo>
                    <a:pt x="0" y="147182"/>
                  </a:lnTo>
                  <a:cubicBezTo>
                    <a:pt x="0" y="65896"/>
                    <a:pt x="65896" y="0"/>
                    <a:pt x="147182" y="0"/>
                  </a:cubicBezTo>
                  <a:close/>
                </a:path>
              </a:pathLst>
            </a:custGeom>
            <a:solidFill>
              <a:srgbClr val="FFBD59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54149" cy="71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5990" y="7272945"/>
            <a:ext cx="1976743" cy="92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35"/>
              </a:lnSpc>
            </a:pPr>
            <a:r>
              <a:rPr lang="en-US" sz="5525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565" y="4562215"/>
            <a:ext cx="4704284" cy="4887215"/>
            <a:chOff x="0" y="0"/>
            <a:chExt cx="1238988" cy="1287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1858" y="4562215"/>
            <a:ext cx="4704284" cy="4887215"/>
            <a:chOff x="0" y="0"/>
            <a:chExt cx="1238988" cy="1287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8617" y="4562215"/>
            <a:ext cx="4704284" cy="4887215"/>
            <a:chOff x="0" y="0"/>
            <a:chExt cx="1238988" cy="12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00959" y="3380468"/>
            <a:ext cx="2363494" cy="23634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62253" y="3380468"/>
            <a:ext cx="2363494" cy="236349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419012" y="3380468"/>
            <a:ext cx="2363494" cy="23634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73157" y="857250"/>
            <a:ext cx="9341687" cy="224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14"/>
              </a:lnSpc>
            </a:pPr>
            <a:r>
              <a:rPr lang="en-US" sz="6295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Tabla Comparativa de Normas y Manuales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4075" y="6169571"/>
            <a:ext cx="2677264" cy="2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2"/>
              </a:lnSpc>
            </a:pPr>
            <a:r>
              <a:rPr lang="en-US" sz="159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IEEE 829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5368" y="6169571"/>
            <a:ext cx="2677264" cy="2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2"/>
              </a:lnSpc>
            </a:pPr>
            <a:r>
              <a:rPr lang="en-US" sz="159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ISO/IEC 26514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62127" y="6169571"/>
            <a:ext cx="2677264" cy="2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2"/>
              </a:lnSpc>
            </a:pPr>
            <a:r>
              <a:rPr lang="en-US" sz="159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Criterios de Cumplimiento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39288" y="6869607"/>
            <a:ext cx="3686837" cy="246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8"/>
              </a:lnSpc>
            </a:pPr>
            <a:r>
              <a:rPr lang="en-US" sz="14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 bueno: Word 365 organiza secciones con propósito, alcance y procedimientos paso a paso, cumpliendo la estructura que exige IEEE 829 para documentación de pruebas y especificaciones. Manual malo: traducción automática de GitHub pierde coherencia, omite secciones obligatorias y no identifica casos de prueba, incumpliendo el estándar.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3562" y="6869607"/>
            <a:ext cx="3680876" cy="222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8"/>
              </a:lnSpc>
            </a:pPr>
            <a:r>
              <a:rPr lang="en-US" sz="14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 bueno: Microsoft Word 365 adapta el lenguaje, incluye capturas de interfaz y manejo de errores, alineándose con ISO/IEC 26514 sobre diseño de documentación para usuarios. Manual malo: el manual traducido usa terminología confusa, no define audiencia y carece de instrucciones recuperables, violando el estándar.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72267" y="6869607"/>
            <a:ext cx="3656985" cy="222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8"/>
              </a:lnSpc>
            </a:pPr>
            <a:r>
              <a:rPr lang="en-US" sz="14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Criterios evaluados: estructura, claridad del lenguaje, uso de capturas, manejo de errores, identificación de audiencia y referencias a normas. El manual bueno cumple todos los criterios porque sigue un diseño documental profesional, mientras que el manual malo incumple la mayoría por falta de revisión técnica y adaptación al usuario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565" y="4562215"/>
            <a:ext cx="4704284" cy="4887215"/>
            <a:chOff x="0" y="0"/>
            <a:chExt cx="1238988" cy="1287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1858" y="4562215"/>
            <a:ext cx="4704284" cy="4887215"/>
            <a:chOff x="0" y="0"/>
            <a:chExt cx="1238988" cy="1287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8617" y="4562215"/>
            <a:ext cx="4704284" cy="4887215"/>
            <a:chOff x="0" y="0"/>
            <a:chExt cx="1238988" cy="12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8988" cy="1287168"/>
            </a:xfrm>
            <a:custGeom>
              <a:avLst/>
              <a:gdLst/>
              <a:ahLst/>
              <a:cxnLst/>
              <a:rect l="l" t="t" r="r" b="b"/>
              <a:pathLst>
                <a:path w="1238988" h="1287168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221339"/>
                  </a:lnTo>
                  <a:cubicBezTo>
                    <a:pt x="1238988" y="1257695"/>
                    <a:pt x="1209516" y="1287168"/>
                    <a:pt x="1173160" y="1287168"/>
                  </a:cubicBezTo>
                  <a:lnTo>
                    <a:pt x="65829" y="1287168"/>
                  </a:lnTo>
                  <a:cubicBezTo>
                    <a:pt x="48370" y="1287168"/>
                    <a:pt x="31626" y="1280232"/>
                    <a:pt x="19281" y="1267887"/>
                  </a:cubicBezTo>
                  <a:cubicBezTo>
                    <a:pt x="6936" y="1255542"/>
                    <a:pt x="0" y="1238798"/>
                    <a:pt x="0" y="1221339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8988" cy="1334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00959" y="3380468"/>
            <a:ext cx="2363494" cy="23634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62253" y="3380468"/>
            <a:ext cx="2363494" cy="236349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419012" y="3380468"/>
            <a:ext cx="2363494" cy="23634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73157" y="876300"/>
            <a:ext cx="9341687" cy="183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8"/>
              </a:lnSpc>
            </a:pPr>
            <a:r>
              <a:rPr lang="en-US" sz="5141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Benchmarking de Herramientas Tecnológicas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4075" y="5916387"/>
            <a:ext cx="2677264" cy="28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</a:pPr>
            <a:r>
              <a:rPr lang="en-US" sz="16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Capturadores de Pantalla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5368" y="6038217"/>
            <a:ext cx="2677264" cy="28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</a:pPr>
            <a:r>
              <a:rPr lang="en-US" sz="16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Procesadores de Texto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62127" y="6038217"/>
            <a:ext cx="2677264" cy="28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</a:pPr>
            <a:r>
              <a:rPr lang="en-US" sz="16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Editores y Diseño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28671" y="6446834"/>
            <a:ext cx="3686837" cy="281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7"/>
              </a:lnSpc>
            </a:pPr>
            <a:r>
              <a:rPr lang="en-US" sz="18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Evaluar herramientas como Snipping Tool, ShareX, Lightshot y Greenshot. Criterios: facilidad de uso, formatos de exportación (PNG, JPG), anotaciones con flechas y recuadros, calidad de imagen y peso del archivo. Incluir capturas de ejemplo para comparar resultados.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1295" y="6446834"/>
            <a:ext cx="3680876" cy="281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7"/>
              </a:lnSpc>
            </a:pPr>
            <a:r>
              <a:rPr lang="en-US" sz="18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Probar Microsoft Word 365, Google Docs y LibreOffice Writer. Verificar compatibilidad con estilos automáticos, plantillas .dotx, tablas, exportación a PDF y facilidad para aplicar cajas visuales de notas, advertencias y tips. Documentar pros y contras de cada opción.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72492" y="6296213"/>
            <a:ext cx="3936487" cy="296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2"/>
              </a:lnSpc>
            </a:pPr>
            <a:r>
              <a:rPr lang="en-US" sz="18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Explorar editores de video como Clipchamp y Canva Video, además de herramientas de diseño como Canva, Figma y Adobe Express. Evaluar facilidad, formatos de salida, opciones de anotación, calidad visual y peso de los archivos generados para la documentación multimedia.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353112" cy="10287000"/>
            <a:chOff x="0" y="0"/>
            <a:chExt cx="11464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499" cy="2709333"/>
            </a:xfrm>
            <a:custGeom>
              <a:avLst/>
              <a:gdLst/>
              <a:ahLst/>
              <a:cxnLst/>
              <a:rect l="l" t="t" r="r" b="b"/>
              <a:pathLst>
                <a:path w="1146499" h="2709333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-422337"/>
            <a:ext cx="7134025" cy="6645374"/>
            <a:chOff x="0" y="0"/>
            <a:chExt cx="1105247" cy="1029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5247" cy="1029542"/>
            </a:xfrm>
            <a:custGeom>
              <a:avLst/>
              <a:gdLst/>
              <a:ahLst/>
              <a:cxnLst/>
              <a:rect l="l" t="t" r="r" b="b"/>
              <a:pathLst>
                <a:path w="1105247" h="1029542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-13" r="-13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615689" y="6737386"/>
            <a:ext cx="6928182" cy="2525415"/>
            <a:chOff x="0" y="0"/>
            <a:chExt cx="1073357" cy="391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3357" cy="391253"/>
            </a:xfrm>
            <a:custGeom>
              <a:avLst/>
              <a:gdLst/>
              <a:ahLst/>
              <a:cxnLst/>
              <a:rect l="l" t="t" r="r" b="b"/>
              <a:pathLst>
                <a:path w="1073357" h="391253">
                  <a:moveTo>
                    <a:pt x="43581" y="0"/>
                  </a:moveTo>
                  <a:lnTo>
                    <a:pt x="1029776" y="0"/>
                  </a:lnTo>
                  <a:cubicBezTo>
                    <a:pt x="1053845" y="0"/>
                    <a:pt x="1073357" y="19512"/>
                    <a:pt x="1073357" y="43581"/>
                  </a:cubicBezTo>
                  <a:lnTo>
                    <a:pt x="1073357" y="347672"/>
                  </a:lnTo>
                  <a:cubicBezTo>
                    <a:pt x="1073357" y="371741"/>
                    <a:pt x="1053845" y="391253"/>
                    <a:pt x="1029776" y="391253"/>
                  </a:cubicBezTo>
                  <a:lnTo>
                    <a:pt x="43581" y="391253"/>
                  </a:lnTo>
                  <a:cubicBezTo>
                    <a:pt x="19512" y="391253"/>
                    <a:pt x="0" y="371741"/>
                    <a:pt x="0" y="347672"/>
                  </a:cubicBezTo>
                  <a:lnTo>
                    <a:pt x="0" y="43581"/>
                  </a:lnTo>
                  <a:cubicBezTo>
                    <a:pt x="0" y="19512"/>
                    <a:pt x="19512" y="0"/>
                    <a:pt x="43581" y="0"/>
                  </a:cubicBezTo>
                  <a:close/>
                </a:path>
              </a:pathLst>
            </a:custGeom>
            <a:blipFill>
              <a:blip r:embed="rId3"/>
              <a:stretch>
                <a:fillRect t="-409" b="-4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0740" y="4081067"/>
            <a:ext cx="943132" cy="9431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0740" y="5367098"/>
            <a:ext cx="943132" cy="94313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00740" y="1516947"/>
            <a:ext cx="7658560" cy="1867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26"/>
              </a:lnSpc>
            </a:pPr>
            <a:r>
              <a:rPr lang="en-US" sz="5233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Tabla Comparativa de Herramientas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2899" y="4187508"/>
            <a:ext cx="6245936" cy="115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Evaluamos capturadores, procesadores de texto, editores de video y herramientas de diseño.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72899" y="5823840"/>
            <a:ext cx="6245936" cy="154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8"/>
              </a:lnSpc>
            </a:pPr>
            <a:r>
              <a:rPr lang="en-US" sz="219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Registramos si se probó cada herramienta, sus pros y contras, y la selección final justificada para documentar el sistema informático del Módulo 3.4.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5027" y="4327208"/>
            <a:ext cx="754557" cy="40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90"/>
              </a:lnSpc>
            </a:pPr>
            <a:r>
              <a:rPr lang="en-US" sz="242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95027" y="5613239"/>
            <a:ext cx="754557" cy="40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90"/>
              </a:lnSpc>
            </a:pPr>
            <a:r>
              <a:rPr lang="en-US" sz="2421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0740" y="981075"/>
            <a:ext cx="2102885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54"/>
              </a:lnSpc>
            </a:pPr>
            <a:r>
              <a:rPr lang="en-US" sz="2325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6737386"/>
            <a:ext cx="2104033" cy="2520914"/>
            <a:chOff x="0" y="0"/>
            <a:chExt cx="554149" cy="663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4149" cy="663945"/>
            </a:xfrm>
            <a:custGeom>
              <a:avLst/>
              <a:gdLst/>
              <a:ahLst/>
              <a:cxnLst/>
              <a:rect l="l" t="t" r="r" b="b"/>
              <a:pathLst>
                <a:path w="554149" h="663945">
                  <a:moveTo>
                    <a:pt x="147182" y="0"/>
                  </a:moveTo>
                  <a:lnTo>
                    <a:pt x="406966" y="0"/>
                  </a:lnTo>
                  <a:cubicBezTo>
                    <a:pt x="488253" y="0"/>
                    <a:pt x="554149" y="65896"/>
                    <a:pt x="554149" y="147182"/>
                  </a:cubicBezTo>
                  <a:lnTo>
                    <a:pt x="554149" y="516762"/>
                  </a:lnTo>
                  <a:cubicBezTo>
                    <a:pt x="554149" y="555797"/>
                    <a:pt x="538642" y="593234"/>
                    <a:pt x="511040" y="620836"/>
                  </a:cubicBezTo>
                  <a:cubicBezTo>
                    <a:pt x="483438" y="648438"/>
                    <a:pt x="446001" y="663945"/>
                    <a:pt x="406966" y="663945"/>
                  </a:cubicBezTo>
                  <a:lnTo>
                    <a:pt x="147182" y="663945"/>
                  </a:lnTo>
                  <a:cubicBezTo>
                    <a:pt x="65896" y="663945"/>
                    <a:pt x="0" y="598049"/>
                    <a:pt x="0" y="516762"/>
                  </a:cubicBezTo>
                  <a:lnTo>
                    <a:pt x="0" y="147182"/>
                  </a:lnTo>
                  <a:cubicBezTo>
                    <a:pt x="0" y="65896"/>
                    <a:pt x="65896" y="0"/>
                    <a:pt x="147182" y="0"/>
                  </a:cubicBezTo>
                  <a:close/>
                </a:path>
              </a:pathLst>
            </a:custGeom>
            <a:solidFill>
              <a:srgbClr val="FFBD59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54149" cy="71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5990" y="7225320"/>
            <a:ext cx="1976743" cy="133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52"/>
              </a:lnSpc>
            </a:pPr>
            <a:r>
              <a:rPr lang="en-US" sz="7894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29696" y="0"/>
            <a:ext cx="5258304" cy="2983658"/>
            <a:chOff x="0" y="0"/>
            <a:chExt cx="1384903" cy="785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4903" cy="785819"/>
            </a:xfrm>
            <a:custGeom>
              <a:avLst/>
              <a:gdLst/>
              <a:ahLst/>
              <a:cxnLst/>
              <a:rect l="l" t="t" r="r" b="b"/>
              <a:pathLst>
                <a:path w="1384903" h="785819">
                  <a:moveTo>
                    <a:pt x="0" y="0"/>
                  </a:moveTo>
                  <a:lnTo>
                    <a:pt x="1384903" y="0"/>
                  </a:lnTo>
                  <a:lnTo>
                    <a:pt x="1384903" y="785819"/>
                  </a:lnTo>
                  <a:lnTo>
                    <a:pt x="0" y="785819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84903" cy="833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87357" y="-310586"/>
            <a:ext cx="7136948" cy="10884281"/>
            <a:chOff x="0" y="0"/>
            <a:chExt cx="1292002" cy="19703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2002" cy="1970382"/>
            </a:xfrm>
            <a:custGeom>
              <a:avLst/>
              <a:gdLst/>
              <a:ahLst/>
              <a:cxnLst/>
              <a:rect l="l" t="t" r="r" b="b"/>
              <a:pathLst>
                <a:path w="1292002" h="1970382">
                  <a:moveTo>
                    <a:pt x="0" y="0"/>
                  </a:moveTo>
                  <a:lnTo>
                    <a:pt x="1292002" y="0"/>
                  </a:lnTo>
                  <a:lnTo>
                    <a:pt x="1292002" y="1970382"/>
                  </a:lnTo>
                  <a:lnTo>
                    <a:pt x="0" y="1970382"/>
                  </a:lnTo>
                  <a:close/>
                </a:path>
              </a:pathLst>
            </a:custGeom>
            <a:blipFill>
              <a:blip r:embed="rId2"/>
              <a:stretch>
                <a:fillRect t="-54" b="-54"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948313" y="6296526"/>
            <a:ext cx="5668594" cy="3315140"/>
            <a:chOff x="0" y="0"/>
            <a:chExt cx="1492963" cy="8731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92963" cy="873123"/>
            </a:xfrm>
            <a:custGeom>
              <a:avLst/>
              <a:gdLst/>
              <a:ahLst/>
              <a:cxnLst/>
              <a:rect l="l" t="t" r="r" b="b"/>
              <a:pathLst>
                <a:path w="1492963" h="873123">
                  <a:moveTo>
                    <a:pt x="54630" y="0"/>
                  </a:moveTo>
                  <a:lnTo>
                    <a:pt x="1438333" y="0"/>
                  </a:lnTo>
                  <a:cubicBezTo>
                    <a:pt x="1468504" y="0"/>
                    <a:pt x="1492963" y="24459"/>
                    <a:pt x="1492963" y="54630"/>
                  </a:cubicBezTo>
                  <a:lnTo>
                    <a:pt x="1492963" y="818493"/>
                  </a:lnTo>
                  <a:cubicBezTo>
                    <a:pt x="1492963" y="832982"/>
                    <a:pt x="1487207" y="846877"/>
                    <a:pt x="1476962" y="857122"/>
                  </a:cubicBezTo>
                  <a:cubicBezTo>
                    <a:pt x="1466717" y="867368"/>
                    <a:pt x="1452822" y="873123"/>
                    <a:pt x="1438333" y="873123"/>
                  </a:cubicBezTo>
                  <a:lnTo>
                    <a:pt x="54630" y="873123"/>
                  </a:lnTo>
                  <a:cubicBezTo>
                    <a:pt x="40141" y="873123"/>
                    <a:pt x="26246" y="867368"/>
                    <a:pt x="16001" y="857122"/>
                  </a:cubicBezTo>
                  <a:cubicBezTo>
                    <a:pt x="5756" y="846877"/>
                    <a:pt x="0" y="832982"/>
                    <a:pt x="0" y="818493"/>
                  </a:cubicBezTo>
                  <a:lnTo>
                    <a:pt x="0" y="54630"/>
                  </a:lnTo>
                  <a:cubicBezTo>
                    <a:pt x="0" y="40141"/>
                    <a:pt x="5756" y="26246"/>
                    <a:pt x="16001" y="16001"/>
                  </a:cubicBezTo>
                  <a:cubicBezTo>
                    <a:pt x="26246" y="5756"/>
                    <a:pt x="40141" y="0"/>
                    <a:pt x="54630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92963" cy="920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21736" y="1823082"/>
            <a:ext cx="6683611" cy="107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0"/>
              </a:lnSpc>
            </a:pPr>
            <a:r>
              <a:rPr lang="en-US" sz="30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Matriz de Diseño de Documentación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736" y="1330958"/>
            <a:ext cx="210288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3.4 | Etapa 4 – Ejecutar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43978" y="6750146"/>
            <a:ext cx="26772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</a:pPr>
            <a:r>
              <a:rPr lang="en-US" sz="1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Elementos Visuales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18786" y="4551120"/>
            <a:ext cx="5031253" cy="1397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19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Definir la identidad visual del manual: tipografías profesionales, colores corporativos institucionales, márgenes uniformes y tamaño de página estándar.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3178" y="7077328"/>
            <a:ext cx="4609367" cy="232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Crear estilos automáticos en el procesador de texto (títulos, subtítulos, cuerpo, listas, pies de página) para garantizar coherencia, ahorrar tiempo y facilitar actualizaciones futuras.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0329" y="7077328"/>
            <a:ext cx="4609367" cy="210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Diseñar cajas visuales diferenciadas para notas informativas, advertencias de riesgo y tips prácticos, utilizando colores, bordes y pictogramas consistentes que mejoren la comprensión del usuario.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21736" y="4444679"/>
            <a:ext cx="943132" cy="755807"/>
            <a:chOff x="0" y="0"/>
            <a:chExt cx="1257509" cy="100774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57509" cy="1007743"/>
              <a:chOff x="0" y="0"/>
              <a:chExt cx="812800" cy="65136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65136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51362">
                    <a:moveTo>
                      <a:pt x="406400" y="0"/>
                    </a:moveTo>
                    <a:cubicBezTo>
                      <a:pt x="181951" y="0"/>
                      <a:pt x="0" y="145812"/>
                      <a:pt x="0" y="325681"/>
                    </a:cubicBezTo>
                    <a:cubicBezTo>
                      <a:pt x="0" y="505550"/>
                      <a:pt x="181951" y="651362"/>
                      <a:pt x="406400" y="651362"/>
                    </a:cubicBezTo>
                    <a:cubicBezTo>
                      <a:pt x="630849" y="651362"/>
                      <a:pt x="812800" y="505550"/>
                      <a:pt x="812800" y="325681"/>
                    </a:cubicBezTo>
                    <a:cubicBezTo>
                      <a:pt x="812800" y="14581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13440"/>
                <a:ext cx="660400" cy="576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5716" y="350413"/>
              <a:ext cx="1006076" cy="278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49"/>
                </a:lnSpc>
              </a:pPr>
              <a:r>
                <a:rPr lang="en-US" sz="1249" b="1">
                  <a:solidFill>
                    <a:srgbClr val="00133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21736" y="6957791"/>
            <a:ext cx="943132" cy="755807"/>
            <a:chOff x="0" y="0"/>
            <a:chExt cx="1257509" cy="10077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257509" cy="1007743"/>
              <a:chOff x="0" y="0"/>
              <a:chExt cx="812800" cy="6513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65136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51362">
                    <a:moveTo>
                      <a:pt x="406400" y="0"/>
                    </a:moveTo>
                    <a:cubicBezTo>
                      <a:pt x="181951" y="0"/>
                      <a:pt x="0" y="145812"/>
                      <a:pt x="0" y="325681"/>
                    </a:cubicBezTo>
                    <a:cubicBezTo>
                      <a:pt x="0" y="505550"/>
                      <a:pt x="181951" y="651362"/>
                      <a:pt x="406400" y="651362"/>
                    </a:cubicBezTo>
                    <a:cubicBezTo>
                      <a:pt x="630849" y="651362"/>
                      <a:pt x="812800" y="505550"/>
                      <a:pt x="812800" y="325681"/>
                    </a:cubicBezTo>
                    <a:cubicBezTo>
                      <a:pt x="812800" y="14581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33B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13440"/>
                <a:ext cx="660400" cy="5768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5716" y="350413"/>
              <a:ext cx="1006076" cy="278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749"/>
                </a:lnSpc>
              </a:pPr>
              <a:r>
                <a:rPr lang="en-US" sz="124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90775" y="0"/>
            <a:ext cx="6397225" cy="10287000"/>
            <a:chOff x="0" y="0"/>
            <a:chExt cx="168486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66" cy="2709333"/>
            </a:xfrm>
            <a:custGeom>
              <a:avLst/>
              <a:gdLst/>
              <a:ahLst/>
              <a:cxnLst/>
              <a:rect l="l" t="t" r="r" b="b"/>
              <a:pathLst>
                <a:path w="1684866" h="2709333">
                  <a:moveTo>
                    <a:pt x="0" y="0"/>
                  </a:moveTo>
                  <a:lnTo>
                    <a:pt x="1684866" y="0"/>
                  </a:lnTo>
                  <a:lnTo>
                    <a:pt x="168486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8486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38020" y="1028700"/>
            <a:ext cx="6779063" cy="8229600"/>
            <a:chOff x="0" y="0"/>
            <a:chExt cx="1160179" cy="14084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0179" cy="1408427"/>
            </a:xfrm>
            <a:custGeom>
              <a:avLst/>
              <a:gdLst/>
              <a:ahLst/>
              <a:cxnLst/>
              <a:rect l="l" t="t" r="r" b="b"/>
              <a:pathLst>
                <a:path w="1160179" h="1408427">
                  <a:moveTo>
                    <a:pt x="38829" y="0"/>
                  </a:moveTo>
                  <a:lnTo>
                    <a:pt x="1121350" y="0"/>
                  </a:lnTo>
                  <a:cubicBezTo>
                    <a:pt x="1131648" y="0"/>
                    <a:pt x="1141525" y="4091"/>
                    <a:pt x="1148807" y="11373"/>
                  </a:cubicBezTo>
                  <a:cubicBezTo>
                    <a:pt x="1156089" y="18655"/>
                    <a:pt x="1160179" y="28531"/>
                    <a:pt x="1160179" y="38829"/>
                  </a:cubicBezTo>
                  <a:lnTo>
                    <a:pt x="1160179" y="1369598"/>
                  </a:lnTo>
                  <a:cubicBezTo>
                    <a:pt x="1160179" y="1379896"/>
                    <a:pt x="1156089" y="1389772"/>
                    <a:pt x="1148807" y="1397054"/>
                  </a:cubicBezTo>
                  <a:cubicBezTo>
                    <a:pt x="1141525" y="1404336"/>
                    <a:pt x="1131648" y="1408427"/>
                    <a:pt x="1121350" y="1408427"/>
                  </a:cubicBezTo>
                  <a:lnTo>
                    <a:pt x="38829" y="1408427"/>
                  </a:lnTo>
                  <a:cubicBezTo>
                    <a:pt x="28531" y="1408427"/>
                    <a:pt x="18655" y="1404336"/>
                    <a:pt x="11373" y="1397054"/>
                  </a:cubicBezTo>
                  <a:cubicBezTo>
                    <a:pt x="4091" y="1389772"/>
                    <a:pt x="0" y="1379896"/>
                    <a:pt x="0" y="1369598"/>
                  </a:cubicBezTo>
                  <a:lnTo>
                    <a:pt x="0" y="38829"/>
                  </a:lnTo>
                  <a:cubicBezTo>
                    <a:pt x="0" y="28531"/>
                    <a:pt x="4091" y="18655"/>
                    <a:pt x="11373" y="11373"/>
                  </a:cubicBezTo>
                  <a:cubicBezTo>
                    <a:pt x="18655" y="4091"/>
                    <a:pt x="28531" y="0"/>
                    <a:pt x="38829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757245" y="2126744"/>
            <a:ext cx="5854442" cy="131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60"/>
              </a:lnSpc>
            </a:pPr>
            <a:r>
              <a:rPr lang="en-US" sz="3686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Guardado y Validación de Plantillas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7245" y="4724201"/>
            <a:ext cx="6117243" cy="4178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357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Guarda tu plantilla en formato .dotx o editable para facilitar futuras actualizaciones. Revisa con tu docente cada elemento: estilos automáticos, márgenes, colores institucionales, cajas visuales para notas y advertencias, y coherencia tipográfica. Aplica la retroalimentación recibida antes de avanzar a la redacción del manual, asegurando consistencia visual y técnica en toda la documentación.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7245" y="1552772"/>
            <a:ext cx="2102885" cy="34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6"/>
              </a:lnSpc>
            </a:pPr>
            <a:r>
              <a:rPr lang="en-US" sz="1933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Plantilla Maestra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353112" cy="10287000"/>
            <a:chOff x="0" y="0"/>
            <a:chExt cx="114649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6499" cy="2709333"/>
            </a:xfrm>
            <a:custGeom>
              <a:avLst/>
              <a:gdLst/>
              <a:ahLst/>
              <a:cxnLst/>
              <a:rect l="l" t="t" r="r" b="b"/>
              <a:pathLst>
                <a:path w="1146499" h="2709333">
                  <a:moveTo>
                    <a:pt x="0" y="0"/>
                  </a:moveTo>
                  <a:lnTo>
                    <a:pt x="1146499" y="0"/>
                  </a:lnTo>
                  <a:lnTo>
                    <a:pt x="11464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4649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-422337"/>
            <a:ext cx="7134025" cy="6645374"/>
            <a:chOff x="0" y="0"/>
            <a:chExt cx="1105247" cy="1029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5247" cy="1029542"/>
            </a:xfrm>
            <a:custGeom>
              <a:avLst/>
              <a:gdLst/>
              <a:ahLst/>
              <a:cxnLst/>
              <a:rect l="l" t="t" r="r" b="b"/>
              <a:pathLst>
                <a:path w="1105247" h="1029542">
                  <a:moveTo>
                    <a:pt x="42323" y="0"/>
                  </a:moveTo>
                  <a:lnTo>
                    <a:pt x="1062924" y="0"/>
                  </a:lnTo>
                  <a:cubicBezTo>
                    <a:pt x="1074149" y="0"/>
                    <a:pt x="1084914" y="4459"/>
                    <a:pt x="1092851" y="12396"/>
                  </a:cubicBezTo>
                  <a:cubicBezTo>
                    <a:pt x="1100788" y="20333"/>
                    <a:pt x="1105247" y="31098"/>
                    <a:pt x="1105247" y="42323"/>
                  </a:cubicBezTo>
                  <a:lnTo>
                    <a:pt x="1105247" y="987219"/>
                  </a:lnTo>
                  <a:cubicBezTo>
                    <a:pt x="1105247" y="998444"/>
                    <a:pt x="1100788" y="1009209"/>
                    <a:pt x="1092851" y="1017146"/>
                  </a:cubicBezTo>
                  <a:cubicBezTo>
                    <a:pt x="1084914" y="1025083"/>
                    <a:pt x="1074149" y="1029542"/>
                    <a:pt x="1062924" y="1029542"/>
                  </a:cubicBezTo>
                  <a:lnTo>
                    <a:pt x="42323" y="1029542"/>
                  </a:lnTo>
                  <a:cubicBezTo>
                    <a:pt x="31098" y="1029542"/>
                    <a:pt x="20333" y="1025083"/>
                    <a:pt x="12396" y="1017146"/>
                  </a:cubicBezTo>
                  <a:cubicBezTo>
                    <a:pt x="4459" y="1009209"/>
                    <a:pt x="0" y="998444"/>
                    <a:pt x="0" y="987219"/>
                  </a:cubicBezTo>
                  <a:lnTo>
                    <a:pt x="0" y="42323"/>
                  </a:lnTo>
                  <a:cubicBezTo>
                    <a:pt x="0" y="31098"/>
                    <a:pt x="4459" y="20333"/>
                    <a:pt x="12396" y="12396"/>
                  </a:cubicBezTo>
                  <a:cubicBezTo>
                    <a:pt x="20333" y="4459"/>
                    <a:pt x="31098" y="0"/>
                    <a:pt x="42323" y="0"/>
                  </a:cubicBezTo>
                  <a:close/>
                </a:path>
              </a:pathLst>
            </a:custGeom>
            <a:blipFill>
              <a:blip r:embed="rId2"/>
              <a:stretch>
                <a:fillRect l="-13" r="-13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615689" y="6737386"/>
            <a:ext cx="6928182" cy="2525415"/>
            <a:chOff x="0" y="0"/>
            <a:chExt cx="1073357" cy="391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3357" cy="391253"/>
            </a:xfrm>
            <a:custGeom>
              <a:avLst/>
              <a:gdLst/>
              <a:ahLst/>
              <a:cxnLst/>
              <a:rect l="l" t="t" r="r" b="b"/>
              <a:pathLst>
                <a:path w="1073357" h="391253">
                  <a:moveTo>
                    <a:pt x="43581" y="0"/>
                  </a:moveTo>
                  <a:lnTo>
                    <a:pt x="1029776" y="0"/>
                  </a:lnTo>
                  <a:cubicBezTo>
                    <a:pt x="1053845" y="0"/>
                    <a:pt x="1073357" y="19512"/>
                    <a:pt x="1073357" y="43581"/>
                  </a:cubicBezTo>
                  <a:lnTo>
                    <a:pt x="1073357" y="347672"/>
                  </a:lnTo>
                  <a:cubicBezTo>
                    <a:pt x="1073357" y="371741"/>
                    <a:pt x="1053845" y="391253"/>
                    <a:pt x="1029776" y="391253"/>
                  </a:cubicBezTo>
                  <a:lnTo>
                    <a:pt x="43581" y="391253"/>
                  </a:lnTo>
                  <a:cubicBezTo>
                    <a:pt x="19512" y="391253"/>
                    <a:pt x="0" y="371741"/>
                    <a:pt x="0" y="347672"/>
                  </a:cubicBezTo>
                  <a:lnTo>
                    <a:pt x="0" y="43581"/>
                  </a:lnTo>
                  <a:cubicBezTo>
                    <a:pt x="0" y="19512"/>
                    <a:pt x="19512" y="0"/>
                    <a:pt x="43581" y="0"/>
                  </a:cubicBezTo>
                  <a:close/>
                </a:path>
              </a:pathLst>
            </a:custGeom>
            <a:blipFill>
              <a:blip r:embed="rId3"/>
              <a:stretch>
                <a:fillRect t="-409" b="-409"/>
              </a:stretch>
            </a:blipFill>
            <a:ln w="1143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600740" y="4081067"/>
            <a:ext cx="943132" cy="9431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133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00740" y="5651339"/>
            <a:ext cx="943132" cy="94313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600740" y="1555047"/>
            <a:ext cx="7658560" cy="135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0"/>
              </a:lnSpc>
            </a:pPr>
            <a:r>
              <a:rPr lang="en-US" sz="3786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ETAPA 4 – Ejecutar</a:t>
            </a:r>
          </a:p>
          <a:p>
            <a:pPr marL="0" lvl="0" indent="0" algn="l">
              <a:lnSpc>
                <a:spcPts val="5300"/>
              </a:lnSpc>
            </a:pPr>
            <a:r>
              <a:rPr lang="en-US" sz="3786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Redacción Inicial del Manual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72899" y="4177983"/>
            <a:ext cx="6245936" cy="129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8"/>
              </a:lnSpc>
            </a:pPr>
            <a:r>
              <a:rPr lang="en-US" sz="249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Extraer términos técnicos clave del sistema (trigger, query, deploy, API, commit).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72899" y="5987933"/>
            <a:ext cx="6245936" cy="291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8"/>
              </a:lnSpc>
            </a:pPr>
            <a:r>
              <a:rPr lang="en-US" sz="2398">
                <a:solidFill>
                  <a:srgbClr val="434032"/>
                </a:solidFill>
                <a:latin typeface="Open Sans"/>
                <a:ea typeface="Open Sans"/>
                <a:cs typeface="Open Sans"/>
                <a:sym typeface="Open Sans"/>
              </a:rPr>
              <a:t>Convertir cada término técnico a lenguaje sencillo para el usuario final. Construir un glosario alfabético con definiciones claras, ejemplos de uso y equivalencias entre jerga técnica y lenguaje cotidiano. Validar que el lector sin conocimientos previos comprenda el procedimiento.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5027" y="4317683"/>
            <a:ext cx="754557" cy="42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249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95027" y="5603714"/>
            <a:ext cx="754557" cy="42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2498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0740" y="990600"/>
            <a:ext cx="2102885" cy="39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3.4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6737386"/>
            <a:ext cx="2104033" cy="2520914"/>
            <a:chOff x="0" y="0"/>
            <a:chExt cx="554149" cy="663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4149" cy="663945"/>
            </a:xfrm>
            <a:custGeom>
              <a:avLst/>
              <a:gdLst/>
              <a:ahLst/>
              <a:cxnLst/>
              <a:rect l="l" t="t" r="r" b="b"/>
              <a:pathLst>
                <a:path w="554149" h="663945">
                  <a:moveTo>
                    <a:pt x="147182" y="0"/>
                  </a:moveTo>
                  <a:lnTo>
                    <a:pt x="406966" y="0"/>
                  </a:lnTo>
                  <a:cubicBezTo>
                    <a:pt x="488253" y="0"/>
                    <a:pt x="554149" y="65896"/>
                    <a:pt x="554149" y="147182"/>
                  </a:cubicBezTo>
                  <a:lnTo>
                    <a:pt x="554149" y="516762"/>
                  </a:lnTo>
                  <a:cubicBezTo>
                    <a:pt x="554149" y="555797"/>
                    <a:pt x="538642" y="593234"/>
                    <a:pt x="511040" y="620836"/>
                  </a:cubicBezTo>
                  <a:cubicBezTo>
                    <a:pt x="483438" y="648438"/>
                    <a:pt x="446001" y="663945"/>
                    <a:pt x="406966" y="663945"/>
                  </a:cubicBezTo>
                  <a:lnTo>
                    <a:pt x="147182" y="663945"/>
                  </a:lnTo>
                  <a:cubicBezTo>
                    <a:pt x="65896" y="663945"/>
                    <a:pt x="0" y="598049"/>
                    <a:pt x="0" y="516762"/>
                  </a:cubicBezTo>
                  <a:lnTo>
                    <a:pt x="0" y="147182"/>
                  </a:lnTo>
                  <a:cubicBezTo>
                    <a:pt x="0" y="65896"/>
                    <a:pt x="65896" y="0"/>
                    <a:pt x="147182" y="0"/>
                  </a:cubicBezTo>
                  <a:close/>
                </a:path>
              </a:pathLst>
            </a:custGeom>
            <a:solidFill>
              <a:srgbClr val="FFBD59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54149" cy="71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5990" y="7263420"/>
            <a:ext cx="1976743" cy="91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12"/>
              </a:lnSpc>
            </a:pPr>
            <a:r>
              <a:rPr lang="en-US" sz="5437" b="1">
                <a:solidFill>
                  <a:srgbClr val="0013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0565" y="4562215"/>
            <a:ext cx="4704284" cy="5536952"/>
            <a:chOff x="0" y="0"/>
            <a:chExt cx="1238988" cy="1458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8988" cy="1458292"/>
            </a:xfrm>
            <a:custGeom>
              <a:avLst/>
              <a:gdLst/>
              <a:ahLst/>
              <a:cxnLst/>
              <a:rect l="l" t="t" r="r" b="b"/>
              <a:pathLst>
                <a:path w="1238988" h="1458292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392463"/>
                  </a:lnTo>
                  <a:cubicBezTo>
                    <a:pt x="1238988" y="1428819"/>
                    <a:pt x="1209516" y="1458292"/>
                    <a:pt x="1173160" y="1458292"/>
                  </a:cubicBezTo>
                  <a:lnTo>
                    <a:pt x="65829" y="1458292"/>
                  </a:lnTo>
                  <a:cubicBezTo>
                    <a:pt x="29473" y="1458292"/>
                    <a:pt x="0" y="1428819"/>
                    <a:pt x="0" y="1392463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38988" cy="150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91858" y="4562215"/>
            <a:ext cx="4704284" cy="5536952"/>
            <a:chOff x="0" y="0"/>
            <a:chExt cx="1238988" cy="1458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8988" cy="1458292"/>
            </a:xfrm>
            <a:custGeom>
              <a:avLst/>
              <a:gdLst/>
              <a:ahLst/>
              <a:cxnLst/>
              <a:rect l="l" t="t" r="r" b="b"/>
              <a:pathLst>
                <a:path w="1238988" h="1458292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392463"/>
                  </a:lnTo>
                  <a:cubicBezTo>
                    <a:pt x="1238988" y="1428819"/>
                    <a:pt x="1209516" y="1458292"/>
                    <a:pt x="1173160" y="1458292"/>
                  </a:cubicBezTo>
                  <a:lnTo>
                    <a:pt x="65829" y="1458292"/>
                  </a:lnTo>
                  <a:cubicBezTo>
                    <a:pt x="29473" y="1458292"/>
                    <a:pt x="0" y="1428819"/>
                    <a:pt x="0" y="1392463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8988" cy="150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8617" y="4562215"/>
            <a:ext cx="4704284" cy="5536952"/>
            <a:chOff x="0" y="0"/>
            <a:chExt cx="1238988" cy="14582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8988" cy="1458292"/>
            </a:xfrm>
            <a:custGeom>
              <a:avLst/>
              <a:gdLst/>
              <a:ahLst/>
              <a:cxnLst/>
              <a:rect l="l" t="t" r="r" b="b"/>
              <a:pathLst>
                <a:path w="1238988" h="1458292">
                  <a:moveTo>
                    <a:pt x="65829" y="0"/>
                  </a:moveTo>
                  <a:lnTo>
                    <a:pt x="1173160" y="0"/>
                  </a:lnTo>
                  <a:cubicBezTo>
                    <a:pt x="1190619" y="0"/>
                    <a:pt x="1207362" y="6936"/>
                    <a:pt x="1219708" y="19281"/>
                  </a:cubicBezTo>
                  <a:cubicBezTo>
                    <a:pt x="1232053" y="31626"/>
                    <a:pt x="1238988" y="48370"/>
                    <a:pt x="1238988" y="65829"/>
                  </a:cubicBezTo>
                  <a:lnTo>
                    <a:pt x="1238988" y="1392463"/>
                  </a:lnTo>
                  <a:cubicBezTo>
                    <a:pt x="1238988" y="1428819"/>
                    <a:pt x="1209516" y="1458292"/>
                    <a:pt x="1173160" y="1458292"/>
                  </a:cubicBezTo>
                  <a:lnTo>
                    <a:pt x="65829" y="1458292"/>
                  </a:lnTo>
                  <a:cubicBezTo>
                    <a:pt x="29473" y="1458292"/>
                    <a:pt x="0" y="1428819"/>
                    <a:pt x="0" y="1392463"/>
                  </a:cubicBezTo>
                  <a:lnTo>
                    <a:pt x="0" y="65829"/>
                  </a:lnTo>
                  <a:cubicBezTo>
                    <a:pt x="0" y="29473"/>
                    <a:pt x="29473" y="0"/>
                    <a:pt x="65829" y="0"/>
                  </a:cubicBezTo>
                  <a:close/>
                </a:path>
              </a:pathLst>
            </a:custGeom>
            <a:solidFill>
              <a:srgbClr val="00133B"/>
            </a:solidFill>
            <a:ln w="1143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8988" cy="1505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00959" y="3380468"/>
            <a:ext cx="2363494" cy="23634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62253" y="3380468"/>
            <a:ext cx="2363494" cy="236349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419012" y="3380468"/>
            <a:ext cx="2363494" cy="23634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143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4473157" y="914400"/>
            <a:ext cx="9341687" cy="1493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9"/>
              </a:lnSpc>
            </a:pPr>
            <a:r>
              <a:rPr lang="en-US" sz="4214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Entregables de las Etapas 3 y 4</a:t>
            </a:r>
          </a:p>
          <a:p>
            <a:pPr marL="0" lvl="0" indent="0" algn="ctr">
              <a:lnSpc>
                <a:spcPts val="5899"/>
              </a:lnSpc>
            </a:pPr>
            <a:r>
              <a:rPr lang="en-US" sz="4214" b="1">
                <a:solidFill>
                  <a:srgbClr val="00133B"/>
                </a:solidFill>
                <a:latin typeface="Poppins Bold"/>
                <a:ea typeface="Poppins Bold"/>
                <a:cs typeface="Poppins Bold"/>
                <a:sym typeface="Poppins Bold"/>
              </a:rPr>
              <a:t>Resumen de Productos Finales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4075" y="5916387"/>
            <a:ext cx="2677264" cy="3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0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y Perfiles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01295" y="5916387"/>
            <a:ext cx="3690774" cy="3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0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 y Capturas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53787" y="5811125"/>
            <a:ext cx="2677264" cy="3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2057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y Borrador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6022" y="6412141"/>
            <a:ext cx="4313369" cy="344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8"/>
              </a:lnSpc>
            </a:pPr>
            <a:r>
              <a:rPr lang="en-US" sz="18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Cuadro comparativo de normas IEEE 829 e ISO/IEC 26514 contra manuales bueno y malo.</a:t>
            </a:r>
          </a:p>
          <a:p>
            <a:pPr marL="0" lvl="0" indent="0" algn="ctr">
              <a:lnSpc>
                <a:spcPts val="2538"/>
              </a:lnSpc>
            </a:pPr>
            <a:r>
              <a:rPr lang="en-US" sz="18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Fichas Persona de 3 perfiles de usuario distintos con fotografía, datos y necesidades.</a:t>
            </a:r>
          </a:p>
          <a:p>
            <a:pPr marL="0" lvl="0" indent="0" algn="ctr">
              <a:lnSpc>
                <a:spcPts val="2538"/>
              </a:lnSpc>
            </a:pPr>
            <a:r>
              <a:rPr lang="en-US" sz="18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Matriz de necesidades que vincula perfiles, contenido y formato preferido.</a:t>
            </a:r>
          </a:p>
          <a:p>
            <a:pPr marL="0" lvl="0" indent="0" algn="ctr">
              <a:lnSpc>
                <a:spcPts val="2538"/>
              </a:lnSpc>
            </a:pPr>
            <a:r>
              <a:rPr lang="en-US" sz="18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Justificación de cumplimiento o incumplimiento de cada norma analizada.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06284" y="6504810"/>
            <a:ext cx="4270896" cy="325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</a:pPr>
            <a:r>
              <a:rPr lang="en-US" sz="17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Tabla comparativa de herramientas tecnológicas con columnas de pros, contras y selección final.</a:t>
            </a:r>
          </a:p>
          <a:p>
            <a:pPr marL="0" lvl="0" indent="0" algn="ctr">
              <a:lnSpc>
                <a:spcPts val="2400"/>
              </a:lnSpc>
            </a:pPr>
            <a:r>
              <a:rPr lang="en-US" sz="17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Capturas de pantalla en PNG de mínimo 1280x720 de cada herramienta probada.</a:t>
            </a:r>
          </a:p>
          <a:p>
            <a:pPr marL="0" lvl="0" indent="0" algn="ctr">
              <a:lnSpc>
                <a:spcPts val="2400"/>
              </a:lnSpc>
            </a:pPr>
            <a:r>
              <a:rPr lang="en-US" sz="17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Anotaciones con flechas rojas y recuadros amarillos resaltando funciones clave.</a:t>
            </a:r>
          </a:p>
          <a:p>
            <a:pPr marL="0" lvl="0" indent="0" algn="ctr">
              <a:lnSpc>
                <a:spcPts val="2400"/>
              </a:lnSpc>
            </a:pPr>
            <a:r>
              <a:rPr lang="en-US" sz="17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Justificación de la herramienta seleccionada para redactar el manual de usuario.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67717" y="6245136"/>
            <a:ext cx="4049405" cy="367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2"/>
              </a:lnSpc>
            </a:pPr>
            <a:r>
              <a:rPr lang="en-US" sz="17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Matriz de diseño de documentación con tipografías, colores, márgenes y tamaño de página.</a:t>
            </a:r>
          </a:p>
          <a:p>
            <a:pPr marL="0" lvl="0" indent="0" algn="ctr">
              <a:lnSpc>
                <a:spcPts val="2492"/>
              </a:lnSpc>
            </a:pPr>
            <a:r>
              <a:rPr lang="en-US" sz="17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Plantilla maestra guardada en formato .dotx o editable, validada con el docente.</a:t>
            </a:r>
          </a:p>
          <a:p>
            <a:pPr marL="0" lvl="0" indent="0" algn="ctr">
              <a:lnSpc>
                <a:spcPts val="2492"/>
              </a:lnSpc>
            </a:pPr>
            <a:r>
              <a:rPr lang="en-US" sz="17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Borrador inicial del manual de usuario con redacción en lenguaje claro.</a:t>
            </a:r>
          </a:p>
          <a:p>
            <a:pPr marL="0" lvl="0" indent="0" algn="ctr">
              <a:lnSpc>
                <a:spcPts val="2492"/>
              </a:lnSpc>
            </a:pPr>
            <a:r>
              <a:rPr lang="en-US" sz="17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 Glosario alfabético con términos técnicos convertidos a definiciones sencillas.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1311</Words>
  <Application>Microsoft Office PowerPoint</Application>
  <PresentationFormat>Personalizado</PresentationFormat>
  <Paragraphs>94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Poppins Bold</vt:lpstr>
      <vt:lpstr>Open Sans Bold</vt:lpstr>
      <vt:lpstr>Calibri</vt:lpstr>
      <vt:lpstr>Arial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Guías Semanales Módulo 3.4: Etapas 3-4</dc:title>
  <cp:lastModifiedBy>19792127@clases.edu.sv</cp:lastModifiedBy>
  <cp:revision>4</cp:revision>
  <dcterms:created xsi:type="dcterms:W3CDTF">2006-08-16T00:00:00Z</dcterms:created>
  <dcterms:modified xsi:type="dcterms:W3CDTF">2026-08-07T15:04:21Z</dcterms:modified>
  <dc:identifier>DAHQIWUu3Ks</dc:identifier>
</cp:coreProperties>
</file>